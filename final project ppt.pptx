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8"/>
  </p:notesMasterIdLst>
  <p:sldIdLst>
    <p:sldId id="282" r:id="rId2"/>
    <p:sldId id="314" r:id="rId3"/>
    <p:sldId id="294" r:id="rId4"/>
    <p:sldId id="295" r:id="rId5"/>
    <p:sldId id="296" r:id="rId6"/>
    <p:sldId id="298" r:id="rId7"/>
    <p:sldId id="300" r:id="rId8"/>
    <p:sldId id="301" r:id="rId9"/>
    <p:sldId id="302" r:id="rId10"/>
    <p:sldId id="297" r:id="rId11"/>
    <p:sldId id="307" r:id="rId12"/>
    <p:sldId id="306" r:id="rId13"/>
    <p:sldId id="312" r:id="rId14"/>
    <p:sldId id="309" r:id="rId15"/>
    <p:sldId id="313" r:id="rId16"/>
    <p:sldId id="310" r:id="rId17"/>
  </p:sldIdLst>
  <p:sldSz cx="12192000" cy="6858000"/>
  <p:notesSz cx="6858000" cy="12192000"/>
  <p:embeddedFontLst>
    <p:embeddedFont>
      <p:font typeface="Abadi" panose="020B0604020104020204" pitchFamily="34" charset="0"/>
      <p:regular r:id="rId19"/>
      <p:bold r:id="rId20"/>
      <p:italic r:id="rId21"/>
      <p:boldItalic r:id="rId2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2060"/>
    <a:srgbClr val="DEEEFF"/>
    <a:srgbClr val="0A2F7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3114" autoAdjust="0"/>
    <p:restoredTop sz="94610"/>
  </p:normalViewPr>
  <p:slideViewPr>
    <p:cSldViewPr snapToGrid="0" snapToObjects="1">
      <p:cViewPr varScale="1">
        <p:scale>
          <a:sx n="58" d="100"/>
          <a:sy n="58" d="100"/>
        </p:scale>
        <p:origin x="67" y="4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133687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337D84-0C62-3B8F-74F5-9020F2DFA0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4EF2D1-75CC-680F-EC77-8254856CF48A}"/>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C893478E-400C-C50C-9950-D8420031E52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4BCA5DC-7C77-0732-50EA-F4219B6D8961}"/>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30095664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476EEF-0B9F-134E-F326-DA5F34561A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7B8046-9607-8957-F91E-33A4F9B6809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F71D026B-0D57-6917-E600-71A0C285AD3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2B961B5-0767-FECD-89C2-1586ABA8ECC3}"/>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20836865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1C3EAD-67C7-8B67-F64B-12E65F7D2B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04FD2B-59AF-911A-829E-364655D8CE36}"/>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51A6D20-0D19-FA77-C488-42AA39D52F2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86B3C71-30FA-2073-D284-F7CD32AD3650}"/>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31324458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2BE4D6-A501-FB79-653B-7B3981B20B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BE7AB5-D6C4-7208-74CB-5ABD60ABD24E}"/>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C06BF54-8EAB-37D5-FF78-594F156A1C2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AC68DF6-6CAA-DB1F-40EA-DE0A74526E69}"/>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42815089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6114FE-6A89-9AE1-68AD-F81CFEC692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380806-ABCF-C998-74F3-42E0AB04735A}"/>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726997DD-CC3B-A5F0-BE0F-E9E6159795D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3DAD1BD-1F97-FF58-CFCE-6F723B8710DE}"/>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42303593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7D1A8F-8185-7E8A-C1DD-EFD90FF5FC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CA70A5-6C4E-65F6-99A9-DF264C148B4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FDFE87E1-3E09-D37E-63CA-95DCE0F551B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D461C05-FA82-239D-2EF9-83CDDA5C57D4}"/>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21928898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0C221A-D5A5-55E0-FB25-345E5F91C1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F6847F-5F15-F9ED-8D9C-BBBD84E46720}"/>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44E933BF-EABE-2EBB-8CC3-8193B982602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29B8E23-12D2-121B-21C3-4FC1306C4BF9}"/>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26853038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3327B3-DABE-F951-9F00-6520C0483D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8DFF16-7F3D-2BE4-8692-3738E716268D}"/>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65CCB436-3EAF-A960-25E9-F796DCC1276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04631AC-1E13-3996-EDDF-9479AB1B1D27}"/>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41203194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F08BA9-BADE-1550-94EE-018947FC59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224EEB-CC71-4C78-4D94-CF4C69E41520}"/>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75326728-860D-EB39-FB18-F623A01962D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17D21C3-11E7-85E9-1AD1-54F081768533}"/>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37865707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A596D8-5290-CC5A-B31C-DBF918C64E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0878CD-B92C-E722-0CE0-B2B2C52A719E}"/>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2872911C-7D27-BC22-59A3-41F072D024D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24A2FC8-0B12-5C96-DB52-F66413FF64F5}"/>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6991523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6B6427-84B7-C052-0875-6C9C7D2BA2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B5FB9A-68B7-EA7D-8258-F510F703FF26}"/>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873C2A22-4C14-7735-BB20-CED7D912443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8B107BD-DDBA-4D53-266F-FA6044000015}"/>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9383220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F8C56A-DF7A-B606-40F8-4D335B04AF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1EC9A6-4C81-C484-6EBD-36BEEC41F46E}"/>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AA8E99AD-53D7-8E31-E6A2-9D9CAE5B270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7CA618A-DD0B-8111-611A-527C5BD34920}"/>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326551592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4C67BD-5DCD-0E09-59E2-BB6E29C247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B87100-22B4-EEBC-7852-4CD66C61D03B}"/>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6889F3B5-9610-9510-EF4E-8CDAF7F7AB7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1D208CA-A8B8-DB88-3C41-DB9C84821A34}"/>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37641858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F864E7-65FB-9D22-7251-6BFDE86004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751ADB-F96F-E55E-E586-441E1F701518}"/>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1E80FF2C-4189-0BCC-45B9-00E8D417A56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04059CB-9D07-5922-008B-CDA04C20E6A7}"/>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339825305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82B379-DF64-2238-F1B3-F979AA2D70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EFF5F9-666F-0BD6-0C52-BC9EA8988124}"/>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D9BB23C7-DDB1-87C7-CDBD-048D6507EF9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E9452F4-4121-0324-1A5D-FCEDF18203C1}"/>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5622208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 Id="rId5" Type="http://schemas.openxmlformats.org/officeDocument/2006/relationships/image" Target="../media/image3.png"/><Relationship Id="rId4" Type="http://schemas.openxmlformats.org/officeDocument/2006/relationships/hyperlink" Target="https://gamma.app/?utm_source=made-with-gamma" TargetMode="Externa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7.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8.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Master" Target="../slideMasters/slideMaster1.xml"/><Relationship Id="rId5" Type="http://schemas.openxmlformats.org/officeDocument/2006/relationships/image" Target="../media/image3.png"/><Relationship Id="rId4" Type="http://schemas.openxmlformats.org/officeDocument/2006/relationships/hyperlink" Target="https://gamma.app/?utm_source=made-with-gamma" TargetMode="Externa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2.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Master" Target="../slideMasters/slideMaster1.xml"/><Relationship Id="rId5" Type="http://schemas.openxmlformats.org/officeDocument/2006/relationships/image" Target="../media/image3.png"/><Relationship Id="rId4" Type="http://schemas.openxmlformats.org/officeDocument/2006/relationships/hyperlink" Target="https://gamma.app/?utm_source=made-with-gamma"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1695" cy="6858000"/>
          </a:xfrm>
          <a:prstGeom prst="rect">
            <a:avLst/>
          </a:prstGeom>
        </p:spPr>
      </p:pic>
      <p:sp>
        <p:nvSpPr>
          <p:cNvPr id="3" name="Shape 0"/>
          <p:cNvSpPr/>
          <p:nvPr/>
        </p:nvSpPr>
        <p:spPr>
          <a:xfrm>
            <a:off x="361246" y="203200"/>
            <a:ext cx="11469202" cy="6451600"/>
          </a:xfrm>
          <a:prstGeom prst="rect">
            <a:avLst/>
          </a:prstGeom>
          <a:solidFill>
            <a:srgbClr val="FFFFFF"/>
          </a:solidFill>
          <a:ln w="12700">
            <a:solidFill>
              <a:srgbClr val="BBD9F5"/>
            </a:solidFill>
            <a:prstDash val="solid"/>
          </a:ln>
          <a:effectLst>
            <a:outerShdw blurRad="127" dist="118110" dir="2700000" algn="bl" rotWithShape="0">
              <a:srgbClr val="BBD9F5">
                <a:alpha val="100000"/>
              </a:srgbClr>
            </a:outerShdw>
          </a:effectLst>
        </p:spPr>
        <p:txBody>
          <a:bodyPr/>
          <a:lstStyle/>
          <a:p>
            <a:endParaRPr lang="en-IN"/>
          </a:p>
        </p:txBody>
      </p:sp>
      <p:pic>
        <p:nvPicPr>
          <p:cNvPr id="4" name="Image 1" descr="preencoded.png"/>
          <p:cNvPicPr>
            <a:picLocks noChangeAspect="1"/>
          </p:cNvPicPr>
          <p:nvPr/>
        </p:nvPicPr>
        <p:blipFill>
          <a:blip r:embed="rId3"/>
          <a:stretch>
            <a:fillRect/>
          </a:stretch>
        </p:blipFill>
        <p:spPr>
          <a:xfrm>
            <a:off x="361246" y="203200"/>
            <a:ext cx="11469202" cy="6451600"/>
          </a:xfrm>
          <a:prstGeom prst="rect">
            <a:avLst/>
          </a:prstGeom>
        </p:spPr>
      </p:pic>
      <p:sp>
        <p:nvSpPr>
          <p:cNvPr id="5" name="Shape 1"/>
          <p:cNvSpPr/>
          <p:nvPr/>
        </p:nvSpPr>
        <p:spPr>
          <a:xfrm>
            <a:off x="361246" y="203200"/>
            <a:ext cx="11469202" cy="6451600"/>
          </a:xfrm>
          <a:prstGeom prst="rect">
            <a:avLst/>
          </a:prstGeom>
          <a:solidFill>
            <a:srgbClr val="FFFFFF">
              <a:alpha val="85000"/>
            </a:srgbClr>
          </a:solidFill>
          <a:ln/>
        </p:spPr>
        <p:txBody>
          <a:bodyPr/>
          <a:lstStyle/>
          <a:p>
            <a:endParaRPr lang="en-IN"/>
          </a:p>
        </p:txBody>
      </p:sp>
      <p:pic>
        <p:nvPicPr>
          <p:cNvPr id="6" name="Image 2" descr="preencoded.png">
            <a:hlinkClick r:id="rId4"/>
          </p:cNvPr>
          <p:cNvPicPr>
            <a:picLocks noChangeAspect="1"/>
          </p:cNvPicPr>
          <p:nvPr/>
        </p:nvPicPr>
        <p:blipFill>
          <a:blip r:embed="rId5"/>
          <a:stretch>
            <a:fillRect/>
          </a:stretch>
        </p:blipFill>
        <p:spPr>
          <a:xfrm>
            <a:off x="11076875"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DEEEFF"/>
          </a:solidFill>
          <a:ln/>
        </p:spPr>
        <p:txBody>
          <a:bodyPr/>
          <a:lstStyle/>
          <a:p>
            <a:endParaRPr lang="en-IN"/>
          </a:p>
        </p:txBody>
      </p:sp>
      <p:sp>
        <p:nvSpPr>
          <p:cNvPr id="3" name="Shape 1"/>
          <p:cNvSpPr/>
          <p:nvPr/>
        </p:nvSpPr>
        <p:spPr>
          <a:xfrm>
            <a:off x="361246" y="203200"/>
            <a:ext cx="11469202" cy="6451600"/>
          </a:xfrm>
          <a:prstGeom prst="rect">
            <a:avLst/>
          </a:prstGeom>
          <a:solidFill>
            <a:srgbClr val="FFFFFF"/>
          </a:solidFill>
          <a:ln w="12700">
            <a:solidFill>
              <a:srgbClr val="BBD9F5"/>
            </a:solidFill>
            <a:prstDash val="solid"/>
          </a:ln>
          <a:effectLst>
            <a:outerShdw blurRad="127" dist="116840" dir="2700000" algn="bl" rotWithShape="0">
              <a:srgbClr val="BBD9F5">
                <a:alpha val="100000"/>
              </a:srgbClr>
            </a:outerShdw>
          </a:effectLst>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master 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DEEEFF"/>
          </a:solidFill>
          <a:ln/>
        </p:spPr>
        <p:txBody>
          <a:bodyPr/>
          <a:lstStyle/>
          <a:p>
            <a:endParaRPr lang="en-IN"/>
          </a:p>
        </p:txBody>
      </p:sp>
      <p:sp>
        <p:nvSpPr>
          <p:cNvPr id="3" name="Shape 1"/>
          <p:cNvSpPr/>
          <p:nvPr/>
        </p:nvSpPr>
        <p:spPr>
          <a:xfrm>
            <a:off x="361246" y="203200"/>
            <a:ext cx="11469202" cy="6451600"/>
          </a:xfrm>
          <a:prstGeom prst="rect">
            <a:avLst/>
          </a:prstGeom>
          <a:solidFill>
            <a:srgbClr val="FFFFFF"/>
          </a:solidFill>
          <a:ln w="6350">
            <a:solidFill>
              <a:srgbClr val="BBD9F5"/>
            </a:solidFill>
            <a:prstDash val="solid"/>
          </a:ln>
          <a:effectLst>
            <a:outerShdw blurRad="127" dist="113030" dir="2700000" algn="bl" rotWithShape="0">
              <a:srgbClr val="BBD9F5">
                <a:alpha val="100000"/>
              </a:srgbClr>
            </a:outerShdw>
          </a:effectLst>
        </p:spPr>
        <p:txBody>
          <a:bodyPr/>
          <a:lstStyle/>
          <a:p>
            <a:endParaRPr lang="en-IN"/>
          </a:p>
        </p:txBody>
      </p:sp>
      <p:pic>
        <p:nvPicPr>
          <p:cNvPr id="4" name="Image 0" descr="preencoded.png"/>
          <p:cNvPicPr>
            <a:picLocks noChangeAspect="1"/>
          </p:cNvPicPr>
          <p:nvPr/>
        </p:nvPicPr>
        <p:blipFill>
          <a:blip r:embed="rId2"/>
          <a:stretch>
            <a:fillRect/>
          </a:stretch>
        </p:blipFill>
        <p:spPr>
          <a:xfrm>
            <a:off x="361246" y="203200"/>
            <a:ext cx="11469202" cy="6451600"/>
          </a:xfrm>
          <a:prstGeom prst="rect">
            <a:avLst/>
          </a:prstGeom>
        </p:spPr>
      </p:pic>
      <p:sp>
        <p:nvSpPr>
          <p:cNvPr id="5" name="Shape 2"/>
          <p:cNvSpPr/>
          <p:nvPr/>
        </p:nvSpPr>
        <p:spPr>
          <a:xfrm>
            <a:off x="361246" y="203200"/>
            <a:ext cx="11469202" cy="6451600"/>
          </a:xfrm>
          <a:prstGeom prst="rect">
            <a:avLst/>
          </a:prstGeom>
          <a:solidFill>
            <a:srgbClr val="FFFFFF">
              <a:alpha val="85000"/>
            </a:srgbClr>
          </a:solidFill>
          <a:ln/>
        </p:spPr>
        <p:txBody>
          <a:bodyPr/>
          <a:lstStyle/>
          <a:p>
            <a:endParaRPr lang="en-IN"/>
          </a:p>
        </p:txBody>
      </p:sp>
      <p:pic>
        <p:nvPicPr>
          <p:cNvPr id="6" name="Image 1" descr="preencoded.png">
            <a:hlinkClick r:id="rId3"/>
          </p:cNvPr>
          <p:cNvPicPr>
            <a:picLocks noChangeAspect="1"/>
          </p:cNvPicPr>
          <p:nvPr/>
        </p:nvPicPr>
        <p:blipFill>
          <a:blip r:embed="rId4"/>
          <a:stretch>
            <a:fillRect/>
          </a:stretch>
        </p:blipFill>
        <p:spPr>
          <a:xfrm>
            <a:off x="11076875" y="6558991"/>
            <a:ext cx="1071843" cy="256032"/>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master 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DEEEFF"/>
          </a:solidFill>
          <a:ln/>
        </p:spPr>
        <p:txBody>
          <a:bodyPr/>
          <a:lstStyle/>
          <a:p>
            <a:endParaRPr lang="en-IN"/>
          </a:p>
        </p:txBody>
      </p:sp>
      <p:sp>
        <p:nvSpPr>
          <p:cNvPr id="3" name="Shape 1"/>
          <p:cNvSpPr/>
          <p:nvPr/>
        </p:nvSpPr>
        <p:spPr>
          <a:xfrm>
            <a:off x="361246" y="203200"/>
            <a:ext cx="11469202" cy="6451600"/>
          </a:xfrm>
          <a:prstGeom prst="rect">
            <a:avLst/>
          </a:prstGeom>
          <a:solidFill>
            <a:srgbClr val="FFFFFF"/>
          </a:solidFill>
          <a:ln w="12700">
            <a:solidFill>
              <a:srgbClr val="BBD9F5"/>
            </a:solidFill>
            <a:prstDash val="solid"/>
          </a:ln>
          <a:effectLst>
            <a:outerShdw blurRad="127" dist="118110" dir="2700000" algn="bl" rotWithShape="0">
              <a:srgbClr val="BBD9F5">
                <a:alpha val="100000"/>
              </a:srgbClr>
            </a:outerShdw>
          </a:effectLst>
        </p:spPr>
        <p:txBody>
          <a:bodyPr/>
          <a:lstStyle/>
          <a:p>
            <a:endParaRPr lang="en-IN"/>
          </a:p>
        </p:txBody>
      </p:sp>
      <p:pic>
        <p:nvPicPr>
          <p:cNvPr id="4" name="Image 0" descr="preencoded.png"/>
          <p:cNvPicPr>
            <a:picLocks noChangeAspect="1"/>
          </p:cNvPicPr>
          <p:nvPr/>
        </p:nvPicPr>
        <p:blipFill>
          <a:blip r:embed="rId2"/>
          <a:stretch>
            <a:fillRect/>
          </a:stretch>
        </p:blipFill>
        <p:spPr>
          <a:xfrm>
            <a:off x="361246" y="203200"/>
            <a:ext cx="11469202" cy="6451600"/>
          </a:xfrm>
          <a:prstGeom prst="rect">
            <a:avLst/>
          </a:prstGeom>
        </p:spPr>
      </p:pic>
      <p:pic>
        <p:nvPicPr>
          <p:cNvPr id="5" name="Image 1" descr="preencoded.png">
            <a:hlinkClick r:id="rId3"/>
          </p:cNvPr>
          <p:cNvPicPr>
            <a:picLocks noChangeAspect="1"/>
          </p:cNvPicPr>
          <p:nvPr/>
        </p:nvPicPr>
        <p:blipFill>
          <a:blip r:embed="rId4"/>
          <a:stretch>
            <a:fillRect/>
          </a:stretch>
        </p:blipFill>
        <p:spPr>
          <a:xfrm>
            <a:off x="11076875" y="6558991"/>
            <a:ext cx="1071843" cy="256032"/>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master 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DEEEFF"/>
          </a:solidFill>
          <a:ln/>
        </p:spPr>
        <p:txBody>
          <a:bodyPr/>
          <a:lstStyle/>
          <a:p>
            <a:endParaRPr lang="en-IN"/>
          </a:p>
        </p:txBody>
      </p:sp>
      <p:sp>
        <p:nvSpPr>
          <p:cNvPr id="3" name="Shape 1"/>
          <p:cNvSpPr/>
          <p:nvPr/>
        </p:nvSpPr>
        <p:spPr>
          <a:xfrm>
            <a:off x="0" y="0"/>
            <a:ext cx="12191695" cy="6858000"/>
          </a:xfrm>
          <a:prstGeom prst="rect">
            <a:avLst/>
          </a:prstGeom>
          <a:solidFill>
            <a:srgbClr val="091C53"/>
          </a:solidFill>
          <a:ln/>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master 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DEEEFF"/>
          </a:solidFill>
          <a:ln/>
        </p:spPr>
        <p:txBody>
          <a:bodyPr/>
          <a:lstStyle/>
          <a:p>
            <a:endParaRPr lang="en-IN"/>
          </a:p>
        </p:txBody>
      </p:sp>
      <p:sp>
        <p:nvSpPr>
          <p:cNvPr id="3" name="Shape 1"/>
          <p:cNvSpPr/>
          <p:nvPr/>
        </p:nvSpPr>
        <p:spPr>
          <a:xfrm>
            <a:off x="361246" y="203200"/>
            <a:ext cx="11469202" cy="6451600"/>
          </a:xfrm>
          <a:prstGeom prst="rect">
            <a:avLst/>
          </a:prstGeom>
          <a:solidFill>
            <a:srgbClr val="FFFFFF"/>
          </a:solidFill>
          <a:ln w="6350">
            <a:solidFill>
              <a:srgbClr val="BBD9F5"/>
            </a:solidFill>
            <a:prstDash val="solid"/>
          </a:ln>
          <a:effectLst>
            <a:outerShdw blurRad="127" dist="77470" dir="2700000" algn="bl" rotWithShape="0">
              <a:srgbClr val="BBD9F5">
                <a:alpha val="100000"/>
              </a:srgbClr>
            </a:outerShdw>
          </a:effectLst>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master 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DEEEFF"/>
          </a:solidFill>
          <a:ln/>
        </p:spPr>
        <p:txBody>
          <a:bodyPr/>
          <a:lstStyle/>
          <a:p>
            <a:endParaRPr lang="en-IN"/>
          </a:p>
        </p:txBody>
      </p:sp>
      <p:sp>
        <p:nvSpPr>
          <p:cNvPr id="3" name="Shape 1"/>
          <p:cNvSpPr/>
          <p:nvPr/>
        </p:nvSpPr>
        <p:spPr>
          <a:xfrm>
            <a:off x="361246" y="203200"/>
            <a:ext cx="11469202" cy="6451600"/>
          </a:xfrm>
          <a:prstGeom prst="rect">
            <a:avLst/>
          </a:prstGeom>
          <a:solidFill>
            <a:srgbClr val="FFFFFF"/>
          </a:solidFill>
          <a:ln w="6350">
            <a:solidFill>
              <a:srgbClr val="BBD9F5"/>
            </a:solidFill>
            <a:prstDash val="solid"/>
          </a:ln>
          <a:effectLst>
            <a:outerShdw blurRad="127" dist="110490" dir="2700000" algn="bl" rotWithShape="0">
              <a:srgbClr val="BBD9F5">
                <a:alpha val="100000"/>
              </a:srgbClr>
            </a:outerShdw>
          </a:effectLst>
        </p:spPr>
        <p:txBody>
          <a:bodyPr/>
          <a:lstStyle/>
          <a:p>
            <a:endParaRPr lang="en-IN"/>
          </a:p>
        </p:txBody>
      </p:sp>
      <p:pic>
        <p:nvPicPr>
          <p:cNvPr id="4" name="Image 0" descr="preencoded.png"/>
          <p:cNvPicPr>
            <a:picLocks noChangeAspect="1"/>
          </p:cNvPicPr>
          <p:nvPr/>
        </p:nvPicPr>
        <p:blipFill>
          <a:blip r:embed="rId2"/>
          <a:stretch>
            <a:fillRect/>
          </a:stretch>
        </p:blipFill>
        <p:spPr>
          <a:xfrm>
            <a:off x="361246" y="203200"/>
            <a:ext cx="11469202" cy="6451600"/>
          </a:xfrm>
          <a:prstGeom prst="rect">
            <a:avLst/>
          </a:prstGeom>
        </p:spPr>
      </p:pic>
      <p:sp>
        <p:nvSpPr>
          <p:cNvPr id="5" name="Shape 2"/>
          <p:cNvSpPr/>
          <p:nvPr/>
        </p:nvSpPr>
        <p:spPr>
          <a:xfrm>
            <a:off x="361246" y="203200"/>
            <a:ext cx="11469202" cy="6451600"/>
          </a:xfrm>
          <a:prstGeom prst="rect">
            <a:avLst/>
          </a:prstGeom>
          <a:solidFill>
            <a:srgbClr val="FFFFFF">
              <a:alpha val="85000"/>
            </a:srgbClr>
          </a:solidFill>
          <a:ln/>
        </p:spPr>
        <p:txBody>
          <a:bodyPr/>
          <a:lstStyle/>
          <a:p>
            <a:endParaRPr lang="en-IN"/>
          </a:p>
        </p:txBody>
      </p:sp>
      <p:pic>
        <p:nvPicPr>
          <p:cNvPr id="6" name="Image 1" descr="preencoded.png">
            <a:hlinkClick r:id="rId3"/>
          </p:cNvPr>
          <p:cNvPicPr>
            <a:picLocks noChangeAspect="1"/>
          </p:cNvPicPr>
          <p:nvPr/>
        </p:nvPicPr>
        <p:blipFill>
          <a:blip r:embed="rId4"/>
          <a:stretch>
            <a:fillRect/>
          </a:stretch>
        </p:blipFill>
        <p:spPr>
          <a:xfrm>
            <a:off x="11076875" y="6558991"/>
            <a:ext cx="1071843" cy="256032"/>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master 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DEEEFF"/>
          </a:solidFill>
          <a:ln/>
        </p:spPr>
        <p:txBody>
          <a:bodyPr/>
          <a:lstStyle/>
          <a:p>
            <a:endParaRPr lang="en-IN"/>
          </a:p>
        </p:txBody>
      </p:sp>
      <p:sp>
        <p:nvSpPr>
          <p:cNvPr id="3" name="Shape 1"/>
          <p:cNvSpPr/>
          <p:nvPr/>
        </p:nvSpPr>
        <p:spPr>
          <a:xfrm>
            <a:off x="361246" y="203200"/>
            <a:ext cx="11469202" cy="6451600"/>
          </a:xfrm>
          <a:prstGeom prst="rect">
            <a:avLst/>
          </a:prstGeom>
          <a:solidFill>
            <a:srgbClr val="FFFFFF"/>
          </a:solidFill>
          <a:ln w="6350">
            <a:solidFill>
              <a:srgbClr val="BBD9F5"/>
            </a:solidFill>
            <a:prstDash val="solid"/>
          </a:ln>
          <a:effectLst>
            <a:outerShdw blurRad="127" dist="101600" dir="2700000" algn="bl" rotWithShape="0">
              <a:srgbClr val="BBD9F5">
                <a:alpha val="100000"/>
              </a:srgbClr>
            </a:outerShdw>
          </a:effectLst>
        </p:spPr>
        <p:txBody>
          <a:bodyPr/>
          <a:lstStyle/>
          <a:p>
            <a:endParaRPr lang="en-IN"/>
          </a:p>
        </p:txBody>
      </p:sp>
      <p:pic>
        <p:nvPicPr>
          <p:cNvPr id="4" name="Image 0" descr="preencoded.png"/>
          <p:cNvPicPr>
            <a:picLocks noChangeAspect="1"/>
          </p:cNvPicPr>
          <p:nvPr/>
        </p:nvPicPr>
        <p:blipFill>
          <a:blip r:embed="rId2"/>
          <a:stretch>
            <a:fillRect/>
          </a:stretch>
        </p:blipFill>
        <p:spPr>
          <a:xfrm>
            <a:off x="361246" y="203200"/>
            <a:ext cx="11469202" cy="6451600"/>
          </a:xfrm>
          <a:prstGeom prst="rect">
            <a:avLst/>
          </a:prstGeom>
        </p:spPr>
      </p:pic>
      <p:sp>
        <p:nvSpPr>
          <p:cNvPr id="5" name="Shape 2"/>
          <p:cNvSpPr/>
          <p:nvPr/>
        </p:nvSpPr>
        <p:spPr>
          <a:xfrm>
            <a:off x="361246" y="203200"/>
            <a:ext cx="11469202" cy="6451600"/>
          </a:xfrm>
          <a:prstGeom prst="rect">
            <a:avLst/>
          </a:prstGeom>
          <a:solidFill>
            <a:srgbClr val="FFFFFF">
              <a:alpha val="85000"/>
            </a:srgbClr>
          </a:solidFill>
          <a:ln/>
        </p:spPr>
        <p:txBody>
          <a:bodyPr/>
          <a:lstStyle/>
          <a:p>
            <a:endParaRPr lang="en-IN"/>
          </a:p>
        </p:txBody>
      </p:sp>
      <p:pic>
        <p:nvPicPr>
          <p:cNvPr id="6" name="Image 1" descr="preencoded.png">
            <a:hlinkClick r:id="rId3"/>
          </p:cNvPr>
          <p:cNvPicPr>
            <a:picLocks noChangeAspect="1"/>
          </p:cNvPicPr>
          <p:nvPr/>
        </p:nvPicPr>
        <p:blipFill>
          <a:blip r:embed="rId4"/>
          <a:stretch>
            <a:fillRect/>
          </a:stretch>
        </p:blipFill>
        <p:spPr>
          <a:xfrm>
            <a:off x="11076875" y="6558991"/>
            <a:ext cx="1071843" cy="256032"/>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master 9">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DEEEFF"/>
          </a:solidFill>
          <a:ln/>
        </p:spPr>
        <p:txBody>
          <a:bodyPr/>
          <a:lstStyle/>
          <a:p>
            <a:endParaRPr lang="en-IN"/>
          </a:p>
        </p:txBody>
      </p:sp>
      <p:sp>
        <p:nvSpPr>
          <p:cNvPr id="3" name="Shape 1"/>
          <p:cNvSpPr/>
          <p:nvPr/>
        </p:nvSpPr>
        <p:spPr>
          <a:xfrm>
            <a:off x="361246" y="203200"/>
            <a:ext cx="11469202" cy="6451600"/>
          </a:xfrm>
          <a:prstGeom prst="rect">
            <a:avLst/>
          </a:prstGeom>
          <a:solidFill>
            <a:srgbClr val="FFFFFF"/>
          </a:solidFill>
          <a:ln w="6350">
            <a:solidFill>
              <a:srgbClr val="BBD9F5"/>
            </a:solidFill>
            <a:prstDash val="solid"/>
          </a:ln>
          <a:effectLst>
            <a:outerShdw blurRad="127" dist="100330" dir="2700000" algn="bl" rotWithShape="0">
              <a:srgbClr val="BBD9F5">
                <a:alpha val="100000"/>
              </a:srgbClr>
            </a:outerShdw>
          </a:effectLst>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master 1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DEEEFF"/>
          </a:solidFill>
          <a:ln/>
        </p:spPr>
        <p:txBody>
          <a:bodyPr/>
          <a:lstStyle/>
          <a:p>
            <a:endParaRPr lang="en-IN"/>
          </a:p>
        </p:txBody>
      </p:sp>
      <p:sp>
        <p:nvSpPr>
          <p:cNvPr id="3" name="Shape 1"/>
          <p:cNvSpPr/>
          <p:nvPr/>
        </p:nvSpPr>
        <p:spPr>
          <a:xfrm>
            <a:off x="361246" y="203200"/>
            <a:ext cx="11469202" cy="7217569"/>
          </a:xfrm>
          <a:prstGeom prst="rect">
            <a:avLst/>
          </a:prstGeom>
          <a:solidFill>
            <a:srgbClr val="FFFFFF"/>
          </a:solidFill>
          <a:ln w="6350">
            <a:solidFill>
              <a:srgbClr val="BBD9F5"/>
            </a:solidFill>
            <a:prstDash val="solid"/>
          </a:ln>
          <a:effectLst>
            <a:outerShdw blurRad="127" dist="58420" dir="2700000" algn="bl" rotWithShape="0">
              <a:srgbClr val="BBD9F5">
                <a:alpha val="100000"/>
              </a:srgbClr>
            </a:outerShdw>
          </a:effectLst>
        </p:spPr>
        <p:txBody>
          <a:bodyPr/>
          <a:lstStyle/>
          <a:p>
            <a:endParaRPr lang="en-IN"/>
          </a:p>
        </p:txBody>
      </p:sp>
      <p:pic>
        <p:nvPicPr>
          <p:cNvPr id="4" name="Image 0" descr="preencoded.png"/>
          <p:cNvPicPr>
            <a:picLocks noChangeAspect="1"/>
          </p:cNvPicPr>
          <p:nvPr/>
        </p:nvPicPr>
        <p:blipFill>
          <a:blip r:embed="rId2"/>
          <a:stretch>
            <a:fillRect/>
          </a:stretch>
        </p:blipFill>
        <p:spPr>
          <a:xfrm>
            <a:off x="361246" y="203200"/>
            <a:ext cx="11469202" cy="7217569"/>
          </a:xfrm>
          <a:prstGeom prst="rect">
            <a:avLst/>
          </a:prstGeom>
        </p:spPr>
      </p:pic>
      <p:sp>
        <p:nvSpPr>
          <p:cNvPr id="5" name="Shape 2"/>
          <p:cNvSpPr/>
          <p:nvPr/>
        </p:nvSpPr>
        <p:spPr>
          <a:xfrm>
            <a:off x="361246" y="203200"/>
            <a:ext cx="11469202" cy="7217569"/>
          </a:xfrm>
          <a:prstGeom prst="rect">
            <a:avLst/>
          </a:prstGeom>
          <a:solidFill>
            <a:srgbClr val="FFFFFF">
              <a:alpha val="85000"/>
            </a:srgbClr>
          </a:solidFill>
          <a:ln/>
        </p:spPr>
        <p:txBody>
          <a:bodyPr/>
          <a:lstStyle/>
          <a:p>
            <a:endParaRPr lang="en-IN"/>
          </a:p>
        </p:txBody>
      </p:sp>
      <p:pic>
        <p:nvPicPr>
          <p:cNvPr id="6" name="Image 1" descr="preencoded.png">
            <a:hlinkClick r:id="rId3"/>
          </p:cNvPr>
          <p:cNvPicPr>
            <a:picLocks noChangeAspect="1"/>
          </p:cNvPicPr>
          <p:nvPr/>
        </p:nvPicPr>
        <p:blipFill>
          <a:blip r:embed="rId4"/>
          <a:stretch>
            <a:fillRect/>
          </a:stretch>
        </p:blipFill>
        <p:spPr>
          <a:xfrm>
            <a:off x="11076875" y="6558991"/>
            <a:ext cx="1071843" cy="256032"/>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master 1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DEEEFF"/>
          </a:solidFill>
          <a:ln/>
        </p:spPr>
        <p:txBody>
          <a:bodyPr/>
          <a:lstStyle/>
          <a:p>
            <a:endParaRPr lang="en-IN"/>
          </a:p>
        </p:txBody>
      </p:sp>
      <p:sp>
        <p:nvSpPr>
          <p:cNvPr id="3" name="Shape 1"/>
          <p:cNvSpPr/>
          <p:nvPr/>
        </p:nvSpPr>
        <p:spPr>
          <a:xfrm>
            <a:off x="361246" y="203200"/>
            <a:ext cx="11469202" cy="7074991"/>
          </a:xfrm>
          <a:prstGeom prst="rect">
            <a:avLst/>
          </a:prstGeom>
          <a:solidFill>
            <a:srgbClr val="FFFFFF"/>
          </a:solidFill>
          <a:ln w="6350">
            <a:solidFill>
              <a:srgbClr val="BBD9F5"/>
            </a:solidFill>
            <a:prstDash val="solid"/>
          </a:ln>
          <a:effectLst>
            <a:outerShdw blurRad="127" dist="58420" dir="2700000" algn="bl" rotWithShape="0">
              <a:srgbClr val="BBD9F5">
                <a:alpha val="100000"/>
              </a:srgbClr>
            </a:outerShdw>
          </a:effectLst>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master 1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DEEEFF"/>
          </a:solidFill>
          <a:ln/>
        </p:spPr>
        <p:txBody>
          <a:bodyPr/>
          <a:lstStyle/>
          <a:p>
            <a:endParaRPr lang="en-IN"/>
          </a:p>
        </p:txBody>
      </p:sp>
      <p:sp>
        <p:nvSpPr>
          <p:cNvPr id="3" name="Shape 1"/>
          <p:cNvSpPr/>
          <p:nvPr/>
        </p:nvSpPr>
        <p:spPr>
          <a:xfrm>
            <a:off x="361246" y="203200"/>
            <a:ext cx="11469202" cy="6451600"/>
          </a:xfrm>
          <a:prstGeom prst="rect">
            <a:avLst/>
          </a:prstGeom>
          <a:solidFill>
            <a:srgbClr val="FFFFFF"/>
          </a:solidFill>
          <a:ln w="6350">
            <a:solidFill>
              <a:srgbClr val="BBD9F5"/>
            </a:solidFill>
            <a:prstDash val="solid"/>
          </a:ln>
          <a:effectLst>
            <a:outerShdw blurRad="127" dist="101600" dir="2700000" algn="bl" rotWithShape="0">
              <a:srgbClr val="BBD9F5">
                <a:alpha val="100000"/>
              </a:srgbClr>
            </a:outerShdw>
          </a:effectLst>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master 1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DEEEFF"/>
          </a:solidFill>
          <a:ln/>
        </p:spPr>
        <p:txBody>
          <a:bodyPr/>
          <a:lstStyle/>
          <a:p>
            <a:endParaRPr lang="en-IN"/>
          </a:p>
        </p:txBody>
      </p:sp>
      <p:sp>
        <p:nvSpPr>
          <p:cNvPr id="3" name="Shape 1"/>
          <p:cNvSpPr/>
          <p:nvPr/>
        </p:nvSpPr>
        <p:spPr>
          <a:xfrm>
            <a:off x="361246" y="203200"/>
            <a:ext cx="11469202" cy="6451600"/>
          </a:xfrm>
          <a:prstGeom prst="rect">
            <a:avLst/>
          </a:prstGeom>
          <a:solidFill>
            <a:srgbClr val="FFFFFF"/>
          </a:solidFill>
          <a:ln w="6350">
            <a:solidFill>
              <a:srgbClr val="BBD9F5"/>
            </a:solidFill>
            <a:prstDash val="solid"/>
          </a:ln>
          <a:effectLst>
            <a:outerShdw blurRad="127" dist="86360" dir="2700000" algn="bl" rotWithShape="0">
              <a:srgbClr val="BBD9F5">
                <a:alpha val="100000"/>
              </a:srgbClr>
            </a:outerShdw>
          </a:effectLst>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master 1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DEEEFF"/>
          </a:solidFill>
          <a:ln/>
        </p:spPr>
        <p:txBody>
          <a:bodyPr/>
          <a:lstStyle/>
          <a:p>
            <a:endParaRPr lang="en-IN"/>
          </a:p>
        </p:txBody>
      </p:sp>
      <p:sp>
        <p:nvSpPr>
          <p:cNvPr id="3" name="Shape 1"/>
          <p:cNvSpPr/>
          <p:nvPr/>
        </p:nvSpPr>
        <p:spPr>
          <a:xfrm>
            <a:off x="361246" y="203200"/>
            <a:ext cx="11469202" cy="6451600"/>
          </a:xfrm>
          <a:prstGeom prst="rect">
            <a:avLst/>
          </a:prstGeom>
          <a:solidFill>
            <a:srgbClr val="FFFFFF"/>
          </a:solidFill>
          <a:ln w="6350">
            <a:solidFill>
              <a:srgbClr val="BBD9F5"/>
            </a:solidFill>
            <a:prstDash val="solid"/>
          </a:ln>
          <a:effectLst>
            <a:outerShdw blurRad="127" dist="82550" dir="2700000" algn="bl" rotWithShape="0">
              <a:srgbClr val="BBD9F5">
                <a:alpha val="100000"/>
              </a:srgbClr>
            </a:outerShdw>
          </a:effectLst>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master 1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DEEEFF"/>
          </a:solidFill>
          <a:ln/>
        </p:spPr>
        <p:txBody>
          <a:bodyPr/>
          <a:lstStyle/>
          <a:p>
            <a:endParaRPr lang="en-IN"/>
          </a:p>
        </p:txBody>
      </p:sp>
      <p:sp>
        <p:nvSpPr>
          <p:cNvPr id="3" name="Shape 1"/>
          <p:cNvSpPr/>
          <p:nvPr/>
        </p:nvSpPr>
        <p:spPr>
          <a:xfrm>
            <a:off x="361246" y="203200"/>
            <a:ext cx="11469202" cy="6478389"/>
          </a:xfrm>
          <a:prstGeom prst="rect">
            <a:avLst/>
          </a:prstGeom>
          <a:solidFill>
            <a:srgbClr val="FFFFFF"/>
          </a:solidFill>
          <a:ln w="6350">
            <a:solidFill>
              <a:srgbClr val="BBD9F5"/>
            </a:solidFill>
            <a:prstDash val="solid"/>
          </a:ln>
          <a:effectLst>
            <a:outerShdw blurRad="127" dist="58420" dir="2700000" algn="bl" rotWithShape="0">
              <a:srgbClr val="BBD9F5">
                <a:alpha val="100000"/>
              </a:srgbClr>
            </a:outerShdw>
          </a:effectLst>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master 1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DEEEFF"/>
          </a:solidFill>
          <a:ln/>
        </p:spPr>
        <p:txBody>
          <a:bodyPr/>
          <a:lstStyle/>
          <a:p>
            <a:endParaRPr lang="en-IN"/>
          </a:p>
        </p:txBody>
      </p:sp>
      <p:sp>
        <p:nvSpPr>
          <p:cNvPr id="3" name="Shape 1"/>
          <p:cNvSpPr/>
          <p:nvPr/>
        </p:nvSpPr>
        <p:spPr>
          <a:xfrm>
            <a:off x="361246" y="203200"/>
            <a:ext cx="11469202" cy="6451600"/>
          </a:xfrm>
          <a:prstGeom prst="rect">
            <a:avLst/>
          </a:prstGeom>
          <a:solidFill>
            <a:srgbClr val="FFFFFF"/>
          </a:solidFill>
          <a:ln w="12700">
            <a:solidFill>
              <a:srgbClr val="BBD9F5"/>
            </a:solidFill>
            <a:prstDash val="solid"/>
          </a:ln>
          <a:effectLst>
            <a:outerShdw blurRad="127" dist="118110" dir="2700000" algn="bl" rotWithShape="0">
              <a:srgbClr val="BBD9F5">
                <a:alpha val="100000"/>
              </a:srgbClr>
            </a:outerShdw>
          </a:effectLst>
        </p:spPr>
        <p:txBody>
          <a:bodyPr/>
          <a:lstStyle/>
          <a:p>
            <a:endParaRPr lang="en-IN"/>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master 1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DEEEFF"/>
          </a:solidFill>
          <a:ln/>
        </p:spPr>
        <p:txBody>
          <a:bodyPr/>
          <a:lstStyle/>
          <a:p>
            <a:endParaRPr lang="en-IN"/>
          </a:p>
        </p:txBody>
      </p:sp>
      <p:sp>
        <p:nvSpPr>
          <p:cNvPr id="3" name="Shape 1"/>
          <p:cNvSpPr/>
          <p:nvPr/>
        </p:nvSpPr>
        <p:spPr>
          <a:xfrm>
            <a:off x="361246" y="203200"/>
            <a:ext cx="11469202" cy="6451600"/>
          </a:xfrm>
          <a:prstGeom prst="rect">
            <a:avLst/>
          </a:prstGeom>
          <a:solidFill>
            <a:srgbClr val="FFFFFF"/>
          </a:solidFill>
          <a:ln w="6350">
            <a:solidFill>
              <a:srgbClr val="BBD9F5"/>
            </a:solidFill>
            <a:prstDash val="solid"/>
          </a:ln>
          <a:effectLst>
            <a:outerShdw blurRad="127" dist="69850" dir="2700000" algn="bl" rotWithShape="0">
              <a:srgbClr val="BBD9F5">
                <a:alpha val="100000"/>
              </a:srgbClr>
            </a:outerShdw>
          </a:effectLst>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master 1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DEEEFF"/>
          </a:solidFill>
          <a:ln/>
        </p:spPr>
        <p:txBody>
          <a:bodyPr/>
          <a:lstStyle/>
          <a:p>
            <a:endParaRPr lang="en-IN"/>
          </a:p>
        </p:txBody>
      </p:sp>
      <p:sp>
        <p:nvSpPr>
          <p:cNvPr id="3" name="Shape 1"/>
          <p:cNvSpPr/>
          <p:nvPr/>
        </p:nvSpPr>
        <p:spPr>
          <a:xfrm>
            <a:off x="361246" y="203200"/>
            <a:ext cx="11469202" cy="8459589"/>
          </a:xfrm>
          <a:prstGeom prst="rect">
            <a:avLst/>
          </a:prstGeom>
          <a:solidFill>
            <a:srgbClr val="FFFFFF"/>
          </a:solidFill>
          <a:ln w="6350">
            <a:solidFill>
              <a:srgbClr val="BBD9F5"/>
            </a:solidFill>
            <a:prstDash val="solid"/>
          </a:ln>
          <a:effectLst>
            <a:outerShdw blurRad="127" dist="58420" dir="2700000" algn="bl" rotWithShape="0">
              <a:srgbClr val="BBD9F5">
                <a:alpha val="100000"/>
              </a:srgbClr>
            </a:outerShdw>
          </a:effectLst>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lide master 1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1695" cy="6858000"/>
          </a:xfrm>
          <a:prstGeom prst="rect">
            <a:avLst/>
          </a:prstGeom>
        </p:spPr>
      </p:pic>
      <p:sp>
        <p:nvSpPr>
          <p:cNvPr id="3" name="Shape 0"/>
          <p:cNvSpPr/>
          <p:nvPr/>
        </p:nvSpPr>
        <p:spPr>
          <a:xfrm>
            <a:off x="361246" y="203200"/>
            <a:ext cx="11469202" cy="6451600"/>
          </a:xfrm>
          <a:prstGeom prst="rect">
            <a:avLst/>
          </a:prstGeom>
          <a:solidFill>
            <a:srgbClr val="FFFFFF"/>
          </a:solidFill>
          <a:ln w="6350">
            <a:solidFill>
              <a:srgbClr val="BBD9F5"/>
            </a:solidFill>
            <a:prstDash val="solid"/>
          </a:ln>
          <a:effectLst>
            <a:outerShdw blurRad="127" dist="82550" dir="2700000" algn="bl" rotWithShape="0">
              <a:srgbClr val="BBD9F5">
                <a:alpha val="100000"/>
              </a:srgbClr>
            </a:outerShdw>
          </a:effectLst>
        </p:spPr>
        <p:txBody>
          <a:bodyPr/>
          <a:lstStyle/>
          <a:p>
            <a:endParaRPr lang="en-IN"/>
          </a:p>
        </p:txBody>
      </p:sp>
      <p:pic>
        <p:nvPicPr>
          <p:cNvPr id="4" name="Image 1" descr="preencoded.png"/>
          <p:cNvPicPr>
            <a:picLocks noChangeAspect="1"/>
          </p:cNvPicPr>
          <p:nvPr/>
        </p:nvPicPr>
        <p:blipFill>
          <a:blip r:embed="rId3"/>
          <a:stretch>
            <a:fillRect/>
          </a:stretch>
        </p:blipFill>
        <p:spPr>
          <a:xfrm>
            <a:off x="361246" y="203200"/>
            <a:ext cx="11469202" cy="6451600"/>
          </a:xfrm>
          <a:prstGeom prst="rect">
            <a:avLst/>
          </a:prstGeom>
        </p:spPr>
      </p:pic>
      <p:sp>
        <p:nvSpPr>
          <p:cNvPr id="5" name="Shape 1"/>
          <p:cNvSpPr/>
          <p:nvPr/>
        </p:nvSpPr>
        <p:spPr>
          <a:xfrm>
            <a:off x="361246" y="203200"/>
            <a:ext cx="11469202" cy="6451600"/>
          </a:xfrm>
          <a:prstGeom prst="rect">
            <a:avLst/>
          </a:prstGeom>
          <a:solidFill>
            <a:srgbClr val="FFFFFF">
              <a:alpha val="85000"/>
            </a:srgbClr>
          </a:solidFill>
          <a:ln/>
        </p:spPr>
        <p:txBody>
          <a:bodyPr/>
          <a:lstStyle/>
          <a:p>
            <a:endParaRPr lang="en-IN"/>
          </a:p>
        </p:txBody>
      </p:sp>
      <p:pic>
        <p:nvPicPr>
          <p:cNvPr id="6" name="Image 2" descr="preencoded.png">
            <a:hlinkClick r:id="rId4"/>
          </p:cNvPr>
          <p:cNvPicPr>
            <a:picLocks noChangeAspect="1"/>
          </p:cNvPicPr>
          <p:nvPr/>
        </p:nvPicPr>
        <p:blipFill>
          <a:blip r:embed="rId5"/>
          <a:stretch>
            <a:fillRect/>
          </a:stretch>
        </p:blipFill>
        <p:spPr>
          <a:xfrm>
            <a:off x="11076875" y="6558991"/>
            <a:ext cx="1071843" cy="256032"/>
          </a:xfrm>
          <a:prstGeom prst="rect">
            <a:avLst/>
          </a:prstGeom>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lide master 2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DEEEFF"/>
          </a:solidFill>
          <a:ln/>
        </p:spPr>
        <p:txBody>
          <a:bodyPr/>
          <a:lstStyle/>
          <a:p>
            <a:endParaRPr lang="en-IN"/>
          </a:p>
        </p:txBody>
      </p:sp>
      <p:sp>
        <p:nvSpPr>
          <p:cNvPr id="3" name="Shape 1"/>
          <p:cNvSpPr/>
          <p:nvPr/>
        </p:nvSpPr>
        <p:spPr>
          <a:xfrm>
            <a:off x="361246" y="203200"/>
            <a:ext cx="11469202" cy="9029005"/>
          </a:xfrm>
          <a:prstGeom prst="rect">
            <a:avLst/>
          </a:prstGeom>
          <a:solidFill>
            <a:srgbClr val="FFFFFF"/>
          </a:solidFill>
          <a:ln w="6350">
            <a:solidFill>
              <a:srgbClr val="BBD9F5"/>
            </a:solidFill>
            <a:prstDash val="solid"/>
          </a:ln>
          <a:effectLst>
            <a:outerShdw blurRad="127" dist="58420" dir="2700000" algn="bl" rotWithShape="0">
              <a:srgbClr val="BBD9F5">
                <a:alpha val="100000"/>
              </a:srgbClr>
            </a:outerShdw>
          </a:effectLst>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Slide master 2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DEEEFF"/>
          </a:solidFill>
          <a:ln/>
        </p:spPr>
        <p:txBody>
          <a:bodyPr/>
          <a:lstStyle/>
          <a:p>
            <a:endParaRPr lang="en-IN"/>
          </a:p>
        </p:txBody>
      </p:sp>
      <p:sp>
        <p:nvSpPr>
          <p:cNvPr id="3" name="Shape 1"/>
          <p:cNvSpPr/>
          <p:nvPr/>
        </p:nvSpPr>
        <p:spPr>
          <a:xfrm>
            <a:off x="0" y="0"/>
            <a:ext cx="12191695" cy="6858000"/>
          </a:xfrm>
          <a:prstGeom prst="rect">
            <a:avLst/>
          </a:prstGeom>
          <a:solidFill>
            <a:srgbClr val="FFFFFF"/>
          </a:solidFill>
          <a:ln/>
        </p:spPr>
        <p:txBody>
          <a:bodyPr/>
          <a:lstStyle/>
          <a:p>
            <a:endParaRPr lang="en-IN"/>
          </a:p>
        </p:txBody>
      </p:sp>
      <p:pic>
        <p:nvPicPr>
          <p:cNvPr id="4" name="Image 0" descr="preencoded.png"/>
          <p:cNvPicPr>
            <a:picLocks noChangeAspect="1"/>
          </p:cNvPicPr>
          <p:nvPr/>
        </p:nvPicPr>
        <p:blipFill>
          <a:blip r:embed="rId2"/>
          <a:stretch>
            <a:fillRect/>
          </a:stretch>
        </p:blipFill>
        <p:spPr>
          <a:xfrm>
            <a:off x="0" y="0"/>
            <a:ext cx="12191695" cy="6858000"/>
          </a:xfrm>
          <a:prstGeom prst="rect">
            <a:avLst/>
          </a:prstGeom>
        </p:spPr>
      </p:pic>
      <p:pic>
        <p:nvPicPr>
          <p:cNvPr id="5" name="Image 1" descr="preencoded.png">
            <a:hlinkClick r:id="rId3"/>
          </p:cNvPr>
          <p:cNvPicPr>
            <a:picLocks noChangeAspect="1"/>
          </p:cNvPicPr>
          <p:nvPr/>
        </p:nvPicPr>
        <p:blipFill>
          <a:blip r:embed="rId4"/>
          <a:stretch>
            <a:fillRect/>
          </a:stretch>
        </p:blipFill>
        <p:spPr>
          <a:xfrm>
            <a:off x="11076875" y="6558991"/>
            <a:ext cx="1071843" cy="256032"/>
          </a:xfrm>
          <a:prstGeom prst="rect">
            <a:avLst/>
          </a:prstGeom>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Slide master 2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DEEEFF"/>
          </a:solidFill>
          <a:ln/>
        </p:spPr>
        <p:txBody>
          <a:bodyPr/>
          <a:lstStyle/>
          <a:p>
            <a:endParaRPr lang="en-IN"/>
          </a:p>
        </p:txBody>
      </p:sp>
      <p:sp>
        <p:nvSpPr>
          <p:cNvPr id="3" name="Shape 1"/>
          <p:cNvSpPr/>
          <p:nvPr/>
        </p:nvSpPr>
        <p:spPr>
          <a:xfrm>
            <a:off x="361246" y="203200"/>
            <a:ext cx="11469202" cy="6451600"/>
          </a:xfrm>
          <a:prstGeom prst="rect">
            <a:avLst/>
          </a:prstGeom>
          <a:solidFill>
            <a:srgbClr val="FFFFFF"/>
          </a:solidFill>
          <a:ln w="6350">
            <a:solidFill>
              <a:srgbClr val="BBD9F5"/>
            </a:solidFill>
            <a:prstDash val="solid"/>
          </a:ln>
          <a:effectLst>
            <a:outerShdw blurRad="127" dist="97790" dir="2700000" algn="bl" rotWithShape="0">
              <a:srgbClr val="BBD9F5">
                <a:alpha val="100000"/>
              </a:srgbClr>
            </a:outerShdw>
          </a:effectLst>
        </p:spPr>
        <p:txBody>
          <a:bodyPr/>
          <a:lstStyle/>
          <a:p>
            <a:endParaRPr lang="en-IN"/>
          </a:p>
        </p:txBody>
      </p:sp>
      <p:pic>
        <p:nvPicPr>
          <p:cNvPr id="4" name="Image 0" descr="preencoded.png"/>
          <p:cNvPicPr>
            <a:picLocks noChangeAspect="1"/>
          </p:cNvPicPr>
          <p:nvPr/>
        </p:nvPicPr>
        <p:blipFill>
          <a:blip r:embed="rId2"/>
          <a:stretch>
            <a:fillRect/>
          </a:stretch>
        </p:blipFill>
        <p:spPr>
          <a:xfrm>
            <a:off x="361246" y="203200"/>
            <a:ext cx="11469202" cy="6451600"/>
          </a:xfrm>
          <a:prstGeom prst="rect">
            <a:avLst/>
          </a:prstGeom>
        </p:spPr>
      </p:pic>
      <p:sp>
        <p:nvSpPr>
          <p:cNvPr id="5" name="Shape 2"/>
          <p:cNvSpPr/>
          <p:nvPr/>
        </p:nvSpPr>
        <p:spPr>
          <a:xfrm>
            <a:off x="361246" y="203200"/>
            <a:ext cx="11469202" cy="6451600"/>
          </a:xfrm>
          <a:prstGeom prst="rect">
            <a:avLst/>
          </a:prstGeom>
          <a:solidFill>
            <a:srgbClr val="FFFFFF">
              <a:alpha val="85000"/>
            </a:srgbClr>
          </a:solidFill>
          <a:ln/>
        </p:spPr>
        <p:txBody>
          <a:bodyPr/>
          <a:lstStyle/>
          <a:p>
            <a:endParaRPr lang="en-IN"/>
          </a:p>
        </p:txBody>
      </p:sp>
      <p:pic>
        <p:nvPicPr>
          <p:cNvPr id="6" name="Image 1" descr="preencoded.png">
            <a:hlinkClick r:id="rId3"/>
          </p:cNvPr>
          <p:cNvPicPr>
            <a:picLocks noChangeAspect="1"/>
          </p:cNvPicPr>
          <p:nvPr/>
        </p:nvPicPr>
        <p:blipFill>
          <a:blip r:embed="rId4"/>
          <a:stretch>
            <a:fillRect/>
          </a:stretch>
        </p:blipFill>
        <p:spPr>
          <a:xfrm>
            <a:off x="11076875" y="6558991"/>
            <a:ext cx="1071843" cy="256032"/>
          </a:xfrm>
          <a:prstGeom prst="rect">
            <a:avLst/>
          </a:prstGeom>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Slide master 2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1695" cy="6858000"/>
          </a:xfrm>
          <a:prstGeom prst="rect">
            <a:avLst/>
          </a:prstGeom>
        </p:spPr>
      </p:pic>
      <p:sp>
        <p:nvSpPr>
          <p:cNvPr id="3" name="Shape 0"/>
          <p:cNvSpPr/>
          <p:nvPr/>
        </p:nvSpPr>
        <p:spPr>
          <a:xfrm>
            <a:off x="361246" y="203200"/>
            <a:ext cx="11469202" cy="6451600"/>
          </a:xfrm>
          <a:prstGeom prst="rect">
            <a:avLst/>
          </a:prstGeom>
          <a:solidFill>
            <a:srgbClr val="E8EEFC"/>
          </a:solidFill>
          <a:ln w="12700">
            <a:solidFill>
              <a:srgbClr val="BBD9F5"/>
            </a:solidFill>
            <a:prstDash val="solid"/>
          </a:ln>
          <a:effectLst>
            <a:outerShdw blurRad="127" dist="118110" dir="2700000" algn="bl" rotWithShape="0">
              <a:srgbClr val="BBD9F5">
                <a:alpha val="100000"/>
              </a:srgbClr>
            </a:outerShdw>
          </a:effectLst>
        </p:spPr>
        <p:txBody>
          <a:bodyPr/>
          <a:lstStyle/>
          <a:p>
            <a:endParaRPr lang="en-IN"/>
          </a:p>
        </p:txBody>
      </p:sp>
      <p:pic>
        <p:nvPicPr>
          <p:cNvPr id="4" name="Image 1" descr="preencoded.png"/>
          <p:cNvPicPr>
            <a:picLocks noChangeAspect="1"/>
          </p:cNvPicPr>
          <p:nvPr/>
        </p:nvPicPr>
        <p:blipFill>
          <a:blip r:embed="rId3"/>
          <a:stretch>
            <a:fillRect/>
          </a:stretch>
        </p:blipFill>
        <p:spPr>
          <a:xfrm>
            <a:off x="361246" y="203200"/>
            <a:ext cx="11469202" cy="6451600"/>
          </a:xfrm>
          <a:prstGeom prst="rect">
            <a:avLst/>
          </a:prstGeom>
        </p:spPr>
      </p:pic>
      <p:sp>
        <p:nvSpPr>
          <p:cNvPr id="5" name="Shape 1"/>
          <p:cNvSpPr/>
          <p:nvPr/>
        </p:nvSpPr>
        <p:spPr>
          <a:xfrm>
            <a:off x="361246" y="203200"/>
            <a:ext cx="11469202" cy="6451600"/>
          </a:xfrm>
          <a:prstGeom prst="rect">
            <a:avLst/>
          </a:prstGeom>
          <a:solidFill>
            <a:srgbClr val="E8EEFC">
              <a:alpha val="85000"/>
            </a:srgbClr>
          </a:solidFill>
          <a:ln/>
        </p:spPr>
        <p:txBody>
          <a:bodyPr/>
          <a:lstStyle/>
          <a:p>
            <a:endParaRPr lang="en-IN"/>
          </a:p>
        </p:txBody>
      </p:sp>
      <p:pic>
        <p:nvPicPr>
          <p:cNvPr id="6" name="Image 2" descr="preencoded.png">
            <a:hlinkClick r:id="rId4"/>
          </p:cNvPr>
          <p:cNvPicPr>
            <a:picLocks noChangeAspect="1"/>
          </p:cNvPicPr>
          <p:nvPr/>
        </p:nvPicPr>
        <p:blipFill>
          <a:blip r:embed="rId5"/>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17.xml"/><Relationship Id="rId5" Type="http://schemas.openxmlformats.org/officeDocument/2006/relationships/image" Target="../media/image17.png"/><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17.xml"/><Relationship Id="rId5" Type="http://schemas.openxmlformats.org/officeDocument/2006/relationships/image" Target="../media/image20.png"/><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17.xml"/><Relationship Id="rId5" Type="http://schemas.openxmlformats.org/officeDocument/2006/relationships/image" Target="../media/image23.png"/><Relationship Id="rId4" Type="http://schemas.openxmlformats.org/officeDocument/2006/relationships/image" Target="../media/image22.png"/></Relationships>
</file>

<file path=ppt/slides/_rels/slide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9.xml"/><Relationship Id="rId1" Type="http://schemas.openxmlformats.org/officeDocument/2006/relationships/slideLayout" Target="../slideLayouts/slideLayout17.xml"/><Relationship Id="rId4" Type="http://schemas.openxmlformats.org/officeDocument/2006/relationships/image" Target="../media/image25.png"/></Relationships>
</file>

<file path=ppt/slides/_rels/slide1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0.xml"/><Relationship Id="rId1" Type="http://schemas.openxmlformats.org/officeDocument/2006/relationships/slideLayout" Target="../slideLayouts/slideLayout17.xml"/><Relationship Id="rId4" Type="http://schemas.openxmlformats.org/officeDocument/2006/relationships/image" Target="../media/image27.png"/></Relationships>
</file>

<file path=ppt/slides/_rels/slide1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1.xml"/><Relationship Id="rId1" Type="http://schemas.openxmlformats.org/officeDocument/2006/relationships/slideLayout" Target="../slideLayouts/slideLayout17.xml"/><Relationship Id="rId4" Type="http://schemas.openxmlformats.org/officeDocument/2006/relationships/image" Target="../media/image29.png"/></Relationships>
</file>

<file path=ppt/slides/_rels/slide1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2.xml"/><Relationship Id="rId1" Type="http://schemas.openxmlformats.org/officeDocument/2006/relationships/slideLayout" Target="../slideLayouts/slideLayout17.xml"/><Relationship Id="rId4" Type="http://schemas.openxmlformats.org/officeDocument/2006/relationships/image" Target="../media/image31.png"/></Relationships>
</file>

<file path=ppt/slides/_rels/slide1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3.xml"/><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978458" y="1126034"/>
            <a:ext cx="9996237" cy="532408"/>
          </a:xfrm>
          <a:prstGeom prst="rect">
            <a:avLst/>
          </a:prstGeom>
          <a:noFill/>
          <a:ln/>
        </p:spPr>
        <p:txBody>
          <a:bodyPr wrap="none" lIns="0" tIns="0" rIns="0" bIns="0" rtlCol="0" anchor="t"/>
          <a:lstStyle/>
          <a:p>
            <a:pPr algn="ctr">
              <a:lnSpc>
                <a:spcPct val="104000"/>
              </a:lnSpc>
            </a:pPr>
            <a:r>
              <a:rPr lang="en-IN" sz="3200" b="1" dirty="0">
                <a:latin typeface="Abadi" panose="020B0604020104020204" pitchFamily="34" charset="0"/>
              </a:rPr>
              <a:t>BANK ANALYTICS PROJECT</a:t>
            </a:r>
            <a:endParaRPr lang="en-US" sz="3200" b="1" dirty="0">
              <a:latin typeface="Abadi" panose="020B0604020104020204" pitchFamily="34" charset="0"/>
            </a:endParaRPr>
          </a:p>
        </p:txBody>
      </p:sp>
      <p:sp>
        <p:nvSpPr>
          <p:cNvPr id="4" name="Text 1"/>
          <p:cNvSpPr/>
          <p:nvPr/>
        </p:nvSpPr>
        <p:spPr>
          <a:xfrm>
            <a:off x="529517" y="6187579"/>
            <a:ext cx="2245066" cy="176808"/>
          </a:xfrm>
          <a:prstGeom prst="rect">
            <a:avLst/>
          </a:prstGeom>
          <a:noFill/>
          <a:ln/>
        </p:spPr>
        <p:txBody>
          <a:bodyPr wrap="none" lIns="0" tIns="120795" rIns="76602" bIns="0" rtlCol="0" anchor="t"/>
          <a:lstStyle/>
          <a:p>
            <a:pPr marL="0" indent="0" algn="l">
              <a:lnSpc>
                <a:spcPct val="100000"/>
              </a:lnSpc>
              <a:buNone/>
            </a:pPr>
            <a:endParaRPr lang="en-US" sz="1150" dirty="0">
              <a:latin typeface="Abadi" panose="020B0604020104020204" pitchFamily="34" charset="0"/>
            </a:endParaRPr>
          </a:p>
        </p:txBody>
      </p:sp>
      <p:sp>
        <p:nvSpPr>
          <p:cNvPr id="5" name="TextBox 4">
            <a:extLst>
              <a:ext uri="{FF2B5EF4-FFF2-40B4-BE49-F238E27FC236}">
                <a16:creationId xmlns:a16="http://schemas.microsoft.com/office/drawing/2014/main" id="{40DAC30F-8D5D-7C38-0EF7-220F7E9BABAD}"/>
              </a:ext>
            </a:extLst>
          </p:cNvPr>
          <p:cNvSpPr txBox="1"/>
          <p:nvPr/>
        </p:nvSpPr>
        <p:spPr>
          <a:xfrm>
            <a:off x="4243754" y="1934308"/>
            <a:ext cx="3634154" cy="369332"/>
          </a:xfrm>
          <a:prstGeom prst="rect">
            <a:avLst/>
          </a:prstGeom>
          <a:noFill/>
        </p:spPr>
        <p:txBody>
          <a:bodyPr wrap="square" rtlCol="0">
            <a:spAutoFit/>
          </a:bodyPr>
          <a:lstStyle/>
          <a:p>
            <a:pPr algn="ctr"/>
            <a:r>
              <a:rPr lang="en-IN" b="1" dirty="0">
                <a:latin typeface="Abadi" panose="020B0604020104020204" pitchFamily="34" charset="0"/>
              </a:rPr>
              <a:t>Project ID:</a:t>
            </a:r>
            <a:r>
              <a:rPr lang="en-IN" dirty="0">
                <a:latin typeface="Abadi" panose="020B0604020104020204" pitchFamily="34" charset="0"/>
              </a:rPr>
              <a:t> </a:t>
            </a:r>
            <a:r>
              <a:rPr lang="en-IN" b="1" dirty="0">
                <a:latin typeface="Abadi" panose="020B0604020104020204" pitchFamily="34" charset="0"/>
              </a:rPr>
              <a:t>P1343</a:t>
            </a:r>
          </a:p>
        </p:txBody>
      </p:sp>
      <p:sp>
        <p:nvSpPr>
          <p:cNvPr id="6" name="Rectangle: Rounded Corners 5">
            <a:extLst>
              <a:ext uri="{FF2B5EF4-FFF2-40B4-BE49-F238E27FC236}">
                <a16:creationId xmlns:a16="http://schemas.microsoft.com/office/drawing/2014/main" id="{685E4B63-ABC8-7E9B-51C5-ADD259DB70D0}"/>
              </a:ext>
            </a:extLst>
          </p:cNvPr>
          <p:cNvSpPr/>
          <p:nvPr/>
        </p:nvSpPr>
        <p:spPr>
          <a:xfrm>
            <a:off x="3003183" y="2803360"/>
            <a:ext cx="5671585" cy="2801028"/>
          </a:xfrm>
          <a:prstGeom prst="roundRect">
            <a:avLst/>
          </a:prstGeom>
          <a:solidFill>
            <a:srgbClr val="DEEEFF"/>
          </a:solidFill>
          <a:ln>
            <a:noFill/>
          </a:ln>
          <a:effectLst>
            <a:outerShdw blurRad="63500" sx="102000" sy="102000" algn="ctr" rotWithShape="0">
              <a:srgbClr val="00206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400" b="1" dirty="0">
                <a:solidFill>
                  <a:schemeClr val="tx1"/>
                </a:solidFill>
                <a:latin typeface="Abadi" panose="020B0604020104020204" pitchFamily="34" charset="0"/>
              </a:rPr>
              <a:t>TEAM MEMBERS : SANJIVANI MESHRAM </a:t>
            </a:r>
          </a:p>
          <a:p>
            <a:r>
              <a:rPr lang="en-IN" sz="1400" b="1" dirty="0">
                <a:solidFill>
                  <a:schemeClr val="tx1"/>
                </a:solidFill>
                <a:latin typeface="Abadi" panose="020B0604020104020204" pitchFamily="34" charset="0"/>
              </a:rPr>
              <a:t>                           SHABANAM KHAN</a:t>
            </a:r>
          </a:p>
          <a:p>
            <a:r>
              <a:rPr lang="en-IN" sz="1400" b="1" dirty="0">
                <a:solidFill>
                  <a:schemeClr val="tx1"/>
                </a:solidFill>
                <a:latin typeface="Abadi" panose="020B0604020104020204" pitchFamily="34" charset="0"/>
              </a:rPr>
              <a:t>                           SUMIT MITTAL</a:t>
            </a:r>
          </a:p>
          <a:p>
            <a:r>
              <a:rPr lang="en-IN" sz="1400" b="1" dirty="0">
                <a:solidFill>
                  <a:schemeClr val="tx1"/>
                </a:solidFill>
                <a:latin typeface="Abadi" panose="020B0604020104020204" pitchFamily="34" charset="0"/>
              </a:rPr>
              <a:t>	           MAYUR VARKAL</a:t>
            </a:r>
          </a:p>
          <a:p>
            <a:r>
              <a:rPr lang="en-IN" sz="1400" b="1" dirty="0">
                <a:solidFill>
                  <a:schemeClr val="tx1"/>
                </a:solidFill>
                <a:latin typeface="Abadi" panose="020B0604020104020204" pitchFamily="34" charset="0"/>
              </a:rPr>
              <a:t>	</a:t>
            </a:r>
            <a:r>
              <a:rPr lang="en-IN" sz="1400" b="1">
                <a:solidFill>
                  <a:schemeClr val="tx1"/>
                </a:solidFill>
                <a:latin typeface="Abadi" panose="020B0604020104020204" pitchFamily="34" charset="0"/>
              </a:rPr>
              <a:t>           AKSHAYA </a:t>
            </a:r>
            <a:r>
              <a:rPr lang="en-IN" sz="1400" b="1" dirty="0">
                <a:solidFill>
                  <a:schemeClr val="tx1"/>
                </a:solidFill>
                <a:latin typeface="Abadi" panose="020B0604020104020204" pitchFamily="34" charset="0"/>
              </a:rPr>
              <a:t>ESHWAR L</a:t>
            </a:r>
          </a:p>
          <a:p>
            <a:r>
              <a:rPr lang="en-IN" sz="1400" b="1" dirty="0">
                <a:solidFill>
                  <a:schemeClr val="tx1"/>
                </a:solidFill>
                <a:latin typeface="Abadi" panose="020B0604020104020204" pitchFamily="34" charset="0"/>
              </a:rPr>
              <a:t>	           PARTH DESHMUKH</a:t>
            </a:r>
          </a:p>
          <a:p>
            <a:r>
              <a:rPr lang="en-IN" sz="1400" b="1" dirty="0">
                <a:solidFill>
                  <a:schemeClr val="tx1"/>
                </a:solidFill>
                <a:latin typeface="Abadi" panose="020B0604020104020204" pitchFamily="34" charset="0"/>
              </a:rPr>
              <a:t>	           KANAKABOINA RAJASEKHAR </a:t>
            </a:r>
          </a:p>
          <a:p>
            <a:endParaRPr lang="en-IN" sz="1400" b="1" dirty="0">
              <a:solidFill>
                <a:schemeClr val="tx1"/>
              </a:solidFill>
              <a:latin typeface="Abadi" panose="020B0604020104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973825-BD8C-E94F-41CA-E2EA8246B0B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A7794A0-188A-8178-7A5C-34F2504CA2AA}"/>
              </a:ext>
            </a:extLst>
          </p:cNvPr>
          <p:cNvSpPr/>
          <p:nvPr/>
        </p:nvSpPr>
        <p:spPr>
          <a:xfrm>
            <a:off x="978458" y="451381"/>
            <a:ext cx="9996237" cy="532408"/>
          </a:xfrm>
          <a:prstGeom prst="rect">
            <a:avLst/>
          </a:prstGeom>
          <a:noFill/>
          <a:ln/>
        </p:spPr>
        <p:txBody>
          <a:bodyPr wrap="none" lIns="0" tIns="0" rIns="0" bIns="0" rtlCol="0" anchor="t"/>
          <a:lstStyle/>
          <a:p>
            <a:pPr algn="ctr">
              <a:lnSpc>
                <a:spcPct val="104000"/>
              </a:lnSpc>
            </a:pPr>
            <a:r>
              <a:rPr lang="en-IN" sz="2800" b="1" dirty="0">
                <a:latin typeface="Abadi" panose="020B0604020104020204" pitchFamily="34" charset="0"/>
              </a:rPr>
              <a:t>TABLE OF CONTENT</a:t>
            </a:r>
            <a:endParaRPr lang="en-US" sz="2800" b="1" dirty="0">
              <a:latin typeface="Abadi" panose="020B0604020104020204" pitchFamily="34" charset="0"/>
            </a:endParaRPr>
          </a:p>
        </p:txBody>
      </p:sp>
      <p:sp>
        <p:nvSpPr>
          <p:cNvPr id="4" name="Text 1">
            <a:extLst>
              <a:ext uri="{FF2B5EF4-FFF2-40B4-BE49-F238E27FC236}">
                <a16:creationId xmlns:a16="http://schemas.microsoft.com/office/drawing/2014/main" id="{298A8DBB-9213-385C-8F2E-790006E19017}"/>
              </a:ext>
            </a:extLst>
          </p:cNvPr>
          <p:cNvSpPr/>
          <p:nvPr/>
        </p:nvSpPr>
        <p:spPr>
          <a:xfrm>
            <a:off x="529517" y="6187579"/>
            <a:ext cx="2245066" cy="176808"/>
          </a:xfrm>
          <a:prstGeom prst="rect">
            <a:avLst/>
          </a:prstGeom>
          <a:noFill/>
          <a:ln/>
        </p:spPr>
        <p:txBody>
          <a:bodyPr wrap="none" lIns="0" tIns="120795" rIns="76602" bIns="0" rtlCol="0" anchor="t"/>
          <a:lstStyle/>
          <a:p>
            <a:pPr marL="0" indent="0" algn="l">
              <a:lnSpc>
                <a:spcPct val="100000"/>
              </a:lnSpc>
              <a:buNone/>
            </a:pPr>
            <a:endParaRPr lang="en-US" sz="1150" dirty="0">
              <a:latin typeface="Abadi" panose="020B0604020104020204" pitchFamily="34" charset="0"/>
            </a:endParaRPr>
          </a:p>
        </p:txBody>
      </p:sp>
      <p:sp>
        <p:nvSpPr>
          <p:cNvPr id="6" name="Rectangle: Rounded Corners 5">
            <a:extLst>
              <a:ext uri="{FF2B5EF4-FFF2-40B4-BE49-F238E27FC236}">
                <a16:creationId xmlns:a16="http://schemas.microsoft.com/office/drawing/2014/main" id="{6BA0C41A-4253-BAE6-4C10-63E3C4917032}"/>
              </a:ext>
            </a:extLst>
          </p:cNvPr>
          <p:cNvSpPr/>
          <p:nvPr/>
        </p:nvSpPr>
        <p:spPr>
          <a:xfrm>
            <a:off x="1091769" y="1214181"/>
            <a:ext cx="2536335" cy="974559"/>
          </a:xfrm>
          <a:prstGeom prst="roundRect">
            <a:avLst/>
          </a:prstGeom>
          <a:solidFill>
            <a:srgbClr val="DEEEFF"/>
          </a:solidFill>
          <a:ln>
            <a:noFill/>
          </a:ln>
          <a:effectLst>
            <a:outerShdw blurRad="63500" sx="102000" sy="102000" algn="ctr" rotWithShape="0">
              <a:srgbClr val="00206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r>
              <a:rPr lang="en-IN" sz="1400" dirty="0">
                <a:solidFill>
                  <a:schemeClr val="tx1"/>
                </a:solidFill>
                <a:latin typeface="Abadi" panose="020B0604020104020204" pitchFamily="34" charset="0"/>
              </a:rPr>
              <a:t>1. PROJECT INTRODUCTION</a:t>
            </a:r>
          </a:p>
        </p:txBody>
      </p:sp>
      <p:sp>
        <p:nvSpPr>
          <p:cNvPr id="5" name="Rectangle: Rounded Corners 4">
            <a:extLst>
              <a:ext uri="{FF2B5EF4-FFF2-40B4-BE49-F238E27FC236}">
                <a16:creationId xmlns:a16="http://schemas.microsoft.com/office/drawing/2014/main" id="{B393983D-926D-A3C2-2D13-876B9E864C16}"/>
              </a:ext>
            </a:extLst>
          </p:cNvPr>
          <p:cNvSpPr/>
          <p:nvPr/>
        </p:nvSpPr>
        <p:spPr>
          <a:xfrm>
            <a:off x="4537974" y="1214181"/>
            <a:ext cx="2536334" cy="974558"/>
          </a:xfrm>
          <a:prstGeom prst="roundRect">
            <a:avLst/>
          </a:prstGeom>
          <a:solidFill>
            <a:srgbClr val="DEEEFF"/>
          </a:solidFill>
          <a:ln>
            <a:noFill/>
          </a:ln>
          <a:effectLst>
            <a:outerShdw blurRad="63500" sx="102000" sy="102000" algn="ctr" rotWithShape="0">
              <a:srgbClr val="00206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r>
              <a:rPr lang="en-IN" sz="1400" dirty="0">
                <a:solidFill>
                  <a:schemeClr val="tx1"/>
                </a:solidFill>
                <a:latin typeface="Abadi" panose="020B0604020104020204" pitchFamily="34" charset="0"/>
              </a:rPr>
              <a:t>2. PROJECT OBJECTIVES</a:t>
            </a:r>
          </a:p>
        </p:txBody>
      </p:sp>
      <p:sp>
        <p:nvSpPr>
          <p:cNvPr id="8" name="Rectangle: Rounded Corners 7">
            <a:extLst>
              <a:ext uri="{FF2B5EF4-FFF2-40B4-BE49-F238E27FC236}">
                <a16:creationId xmlns:a16="http://schemas.microsoft.com/office/drawing/2014/main" id="{7E54285E-3C79-7193-19C5-63B3F89B67F8}"/>
              </a:ext>
            </a:extLst>
          </p:cNvPr>
          <p:cNvSpPr/>
          <p:nvPr/>
        </p:nvSpPr>
        <p:spPr>
          <a:xfrm>
            <a:off x="8062840" y="1214182"/>
            <a:ext cx="2536334" cy="974558"/>
          </a:xfrm>
          <a:prstGeom prst="roundRect">
            <a:avLst/>
          </a:prstGeom>
          <a:solidFill>
            <a:srgbClr val="DEEEFF"/>
          </a:solidFill>
          <a:ln>
            <a:noFill/>
          </a:ln>
          <a:effectLst>
            <a:outerShdw blurRad="63500" sx="102000" sy="102000" algn="ctr" rotWithShape="0">
              <a:srgbClr val="00206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r>
              <a:rPr lang="en-IN" sz="1600" dirty="0">
                <a:solidFill>
                  <a:schemeClr val="tx1"/>
                </a:solidFill>
                <a:latin typeface="Abadi" panose="020B0604020104020204" pitchFamily="34" charset="0"/>
              </a:rPr>
              <a:t>3. WHAT WE LEARNED </a:t>
            </a:r>
          </a:p>
        </p:txBody>
      </p:sp>
      <p:sp>
        <p:nvSpPr>
          <p:cNvPr id="10" name="Rectangle: Rounded Corners 9">
            <a:extLst>
              <a:ext uri="{FF2B5EF4-FFF2-40B4-BE49-F238E27FC236}">
                <a16:creationId xmlns:a16="http://schemas.microsoft.com/office/drawing/2014/main" id="{C96A825D-55BC-EB85-8BAB-84669911947E}"/>
              </a:ext>
            </a:extLst>
          </p:cNvPr>
          <p:cNvSpPr/>
          <p:nvPr/>
        </p:nvSpPr>
        <p:spPr>
          <a:xfrm>
            <a:off x="1091766" y="2691901"/>
            <a:ext cx="2536335" cy="974559"/>
          </a:xfrm>
          <a:prstGeom prst="roundRect">
            <a:avLst/>
          </a:prstGeom>
          <a:solidFill>
            <a:srgbClr val="DEEEFF"/>
          </a:solidFill>
          <a:ln>
            <a:noFill/>
          </a:ln>
          <a:effectLst>
            <a:outerShdw blurRad="63500" sx="102000" sy="102000" algn="ctr" rotWithShape="0">
              <a:srgbClr val="00206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r>
              <a:rPr lang="en-IN" sz="1400" dirty="0">
                <a:solidFill>
                  <a:schemeClr val="tx1"/>
                </a:solidFill>
                <a:latin typeface="Abadi" panose="020B0604020104020204" pitchFamily="34" charset="0"/>
              </a:rPr>
              <a:t>4. BANK ANALYTICS KPIs</a:t>
            </a:r>
          </a:p>
        </p:txBody>
      </p:sp>
      <p:sp>
        <p:nvSpPr>
          <p:cNvPr id="12" name="Rectangle: Rounded Corners 11">
            <a:extLst>
              <a:ext uri="{FF2B5EF4-FFF2-40B4-BE49-F238E27FC236}">
                <a16:creationId xmlns:a16="http://schemas.microsoft.com/office/drawing/2014/main" id="{AECA5385-F030-0BC2-E2EA-4921EADE193C}"/>
              </a:ext>
            </a:extLst>
          </p:cNvPr>
          <p:cNvSpPr/>
          <p:nvPr/>
        </p:nvSpPr>
        <p:spPr>
          <a:xfrm>
            <a:off x="4537974" y="2724836"/>
            <a:ext cx="2536335" cy="974558"/>
          </a:xfrm>
          <a:prstGeom prst="roundRect">
            <a:avLst/>
          </a:prstGeom>
          <a:solidFill>
            <a:srgbClr val="DEEEFF"/>
          </a:solidFill>
          <a:ln>
            <a:noFill/>
          </a:ln>
          <a:effectLst>
            <a:outerShdw blurRad="63500" sx="102000" sy="102000" algn="ctr" rotWithShape="0">
              <a:srgbClr val="00206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04000"/>
              </a:lnSpc>
            </a:pPr>
            <a:r>
              <a:rPr lang="en-IN" sz="1400" dirty="0">
                <a:solidFill>
                  <a:schemeClr val="tx1"/>
                </a:solidFill>
                <a:latin typeface="Abadi" panose="020B0604020104020204" pitchFamily="34" charset="0"/>
              </a:rPr>
              <a:t>5. BANK CREDIT &amp; DEBIT KPIs</a:t>
            </a:r>
            <a:endParaRPr lang="en-US" sz="1400" dirty="0">
              <a:solidFill>
                <a:schemeClr val="tx1"/>
              </a:solidFill>
              <a:latin typeface="Abadi" panose="020B0604020104020204" pitchFamily="34" charset="0"/>
            </a:endParaRPr>
          </a:p>
        </p:txBody>
      </p:sp>
      <p:sp>
        <p:nvSpPr>
          <p:cNvPr id="16" name="Rectangle: Rounded Corners 15">
            <a:extLst>
              <a:ext uri="{FF2B5EF4-FFF2-40B4-BE49-F238E27FC236}">
                <a16:creationId xmlns:a16="http://schemas.microsoft.com/office/drawing/2014/main" id="{9335AD62-0933-60C5-8129-F9ABFC86DAAD}"/>
              </a:ext>
            </a:extLst>
          </p:cNvPr>
          <p:cNvSpPr/>
          <p:nvPr/>
        </p:nvSpPr>
        <p:spPr>
          <a:xfrm>
            <a:off x="8062840" y="2724836"/>
            <a:ext cx="2536335" cy="974559"/>
          </a:xfrm>
          <a:prstGeom prst="roundRect">
            <a:avLst/>
          </a:prstGeom>
          <a:solidFill>
            <a:srgbClr val="DEEEFF"/>
          </a:solidFill>
          <a:ln>
            <a:noFill/>
          </a:ln>
          <a:effectLst>
            <a:outerShdw blurRad="63500" sx="102000" sy="102000" algn="ctr" rotWithShape="0">
              <a:srgbClr val="00206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00" dirty="0">
                <a:solidFill>
                  <a:schemeClr val="tx1"/>
                </a:solidFill>
                <a:latin typeface="Abadi" panose="020B0604020104020204" pitchFamily="34" charset="0"/>
              </a:rPr>
              <a:t>6. EXCEL DASHBOARDS</a:t>
            </a:r>
            <a:endParaRPr lang="en-IN" sz="1400" dirty="0">
              <a:solidFill>
                <a:schemeClr val="tx1"/>
              </a:solidFill>
              <a:effectLst/>
              <a:latin typeface="Abadi" panose="020B0604020104020204" pitchFamily="34" charset="0"/>
            </a:endParaRPr>
          </a:p>
        </p:txBody>
      </p:sp>
      <p:sp>
        <p:nvSpPr>
          <p:cNvPr id="18" name="Rectangle: Rounded Corners 17">
            <a:extLst>
              <a:ext uri="{FF2B5EF4-FFF2-40B4-BE49-F238E27FC236}">
                <a16:creationId xmlns:a16="http://schemas.microsoft.com/office/drawing/2014/main" id="{23BC1E39-B2EF-DE17-AF4D-C5E3C9F7C33A}"/>
              </a:ext>
            </a:extLst>
          </p:cNvPr>
          <p:cNvSpPr/>
          <p:nvPr/>
        </p:nvSpPr>
        <p:spPr>
          <a:xfrm>
            <a:off x="1091769" y="4169621"/>
            <a:ext cx="2536336" cy="974559"/>
          </a:xfrm>
          <a:prstGeom prst="roundRect">
            <a:avLst/>
          </a:prstGeom>
          <a:solidFill>
            <a:srgbClr val="DEEEFF"/>
          </a:solidFill>
          <a:ln>
            <a:noFill/>
          </a:ln>
          <a:effectLst>
            <a:outerShdw blurRad="63500" sx="102000" sy="102000" algn="ctr" rotWithShape="0">
              <a:srgbClr val="00206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00" dirty="0">
                <a:solidFill>
                  <a:schemeClr val="tx1"/>
                </a:solidFill>
                <a:latin typeface="Abadi" panose="020B0604020104020204" pitchFamily="34" charset="0"/>
              </a:rPr>
              <a:t>7. POWER BI DASHBOARDS</a:t>
            </a:r>
            <a:endParaRPr lang="en-IN" sz="1400" dirty="0">
              <a:solidFill>
                <a:schemeClr val="tx1"/>
              </a:solidFill>
              <a:effectLst/>
              <a:latin typeface="Abadi" panose="020B0604020104020204" pitchFamily="34" charset="0"/>
            </a:endParaRPr>
          </a:p>
        </p:txBody>
      </p:sp>
      <p:sp>
        <p:nvSpPr>
          <p:cNvPr id="20" name="Rectangle: Rounded Corners 19">
            <a:extLst>
              <a:ext uri="{FF2B5EF4-FFF2-40B4-BE49-F238E27FC236}">
                <a16:creationId xmlns:a16="http://schemas.microsoft.com/office/drawing/2014/main" id="{2B1FAF4D-082E-15F0-2EAF-0CF3B06B0B03}"/>
              </a:ext>
            </a:extLst>
          </p:cNvPr>
          <p:cNvSpPr/>
          <p:nvPr/>
        </p:nvSpPr>
        <p:spPr>
          <a:xfrm>
            <a:off x="4537973" y="4169620"/>
            <a:ext cx="2536335" cy="974559"/>
          </a:xfrm>
          <a:prstGeom prst="roundRect">
            <a:avLst/>
          </a:prstGeom>
          <a:solidFill>
            <a:srgbClr val="DEEEFF"/>
          </a:solidFill>
          <a:ln>
            <a:noFill/>
          </a:ln>
          <a:effectLst>
            <a:outerShdw blurRad="63500" sx="102000" sy="102000" algn="ctr" rotWithShape="0">
              <a:srgbClr val="00206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00" dirty="0">
                <a:solidFill>
                  <a:schemeClr val="tx1"/>
                </a:solidFill>
                <a:latin typeface="Abadi" panose="020B0604020104020204" pitchFamily="34" charset="0"/>
              </a:rPr>
              <a:t>8. TABLEAU DASHBOARDS</a:t>
            </a:r>
            <a:endParaRPr lang="en-IN" sz="1400" dirty="0">
              <a:solidFill>
                <a:schemeClr val="tx1"/>
              </a:solidFill>
              <a:effectLst/>
              <a:latin typeface="Abadi" panose="020B0604020104020204" pitchFamily="34" charset="0"/>
            </a:endParaRPr>
          </a:p>
        </p:txBody>
      </p:sp>
      <p:sp>
        <p:nvSpPr>
          <p:cNvPr id="22" name="Rectangle: Rounded Corners 21">
            <a:extLst>
              <a:ext uri="{FF2B5EF4-FFF2-40B4-BE49-F238E27FC236}">
                <a16:creationId xmlns:a16="http://schemas.microsoft.com/office/drawing/2014/main" id="{2EA1C4FD-F358-D4A0-94BF-2365059A453A}"/>
              </a:ext>
            </a:extLst>
          </p:cNvPr>
          <p:cNvSpPr/>
          <p:nvPr/>
        </p:nvSpPr>
        <p:spPr>
          <a:xfrm>
            <a:off x="8063033" y="4169619"/>
            <a:ext cx="2536141" cy="974559"/>
          </a:xfrm>
          <a:prstGeom prst="roundRect">
            <a:avLst/>
          </a:prstGeom>
          <a:solidFill>
            <a:srgbClr val="DEEEFF"/>
          </a:solidFill>
          <a:ln>
            <a:noFill/>
          </a:ln>
          <a:effectLst>
            <a:outerShdw blurRad="63500" sx="102000" sy="102000" algn="ctr" rotWithShape="0">
              <a:srgbClr val="00206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00" dirty="0">
                <a:solidFill>
                  <a:schemeClr val="tx1"/>
                </a:solidFill>
                <a:latin typeface="Abadi" panose="020B0604020104020204" pitchFamily="34" charset="0"/>
              </a:rPr>
              <a:t>9. SQL KPI QUERIES</a:t>
            </a:r>
          </a:p>
        </p:txBody>
      </p:sp>
      <p:sp>
        <p:nvSpPr>
          <p:cNvPr id="24" name="Rectangle: Rounded Corners 23">
            <a:extLst>
              <a:ext uri="{FF2B5EF4-FFF2-40B4-BE49-F238E27FC236}">
                <a16:creationId xmlns:a16="http://schemas.microsoft.com/office/drawing/2014/main" id="{0F32A1D5-1B88-97D9-88F3-DEE710567F6E}"/>
              </a:ext>
            </a:extLst>
          </p:cNvPr>
          <p:cNvSpPr/>
          <p:nvPr/>
        </p:nvSpPr>
        <p:spPr>
          <a:xfrm>
            <a:off x="1091767" y="5538205"/>
            <a:ext cx="2536335" cy="974559"/>
          </a:xfrm>
          <a:prstGeom prst="roundRect">
            <a:avLst/>
          </a:prstGeom>
          <a:solidFill>
            <a:srgbClr val="DEEEFF"/>
          </a:solidFill>
          <a:ln>
            <a:noFill/>
          </a:ln>
          <a:effectLst>
            <a:outerShdw blurRad="63500" sx="102000" sy="102000" algn="ctr" rotWithShape="0">
              <a:srgbClr val="00206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00" dirty="0">
                <a:solidFill>
                  <a:schemeClr val="tx1"/>
                </a:solidFill>
                <a:latin typeface="Abadi" panose="020B0604020104020204" pitchFamily="34" charset="0"/>
              </a:rPr>
              <a:t>10. KEY INSIGHTS</a:t>
            </a:r>
            <a:endParaRPr lang="en-IN" sz="1400" dirty="0">
              <a:solidFill>
                <a:schemeClr val="tx1"/>
              </a:solidFill>
              <a:effectLst/>
              <a:latin typeface="Abadi" panose="020B0604020104020204" pitchFamily="34" charset="0"/>
            </a:endParaRPr>
          </a:p>
        </p:txBody>
      </p:sp>
      <p:sp>
        <p:nvSpPr>
          <p:cNvPr id="26" name="Rectangle: Rounded Corners 25">
            <a:extLst>
              <a:ext uri="{FF2B5EF4-FFF2-40B4-BE49-F238E27FC236}">
                <a16:creationId xmlns:a16="http://schemas.microsoft.com/office/drawing/2014/main" id="{7C1CFEF8-3160-B4ED-D73A-2C500217E8E4}"/>
              </a:ext>
            </a:extLst>
          </p:cNvPr>
          <p:cNvSpPr/>
          <p:nvPr/>
        </p:nvSpPr>
        <p:spPr>
          <a:xfrm>
            <a:off x="4537974" y="5538204"/>
            <a:ext cx="2536334" cy="974559"/>
          </a:xfrm>
          <a:prstGeom prst="roundRect">
            <a:avLst/>
          </a:prstGeom>
          <a:solidFill>
            <a:srgbClr val="DEEEFF"/>
          </a:solidFill>
          <a:ln>
            <a:noFill/>
          </a:ln>
          <a:effectLst>
            <a:outerShdw blurRad="63500" sx="102000" sy="102000" algn="ctr" rotWithShape="0">
              <a:srgbClr val="00206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04000"/>
              </a:lnSpc>
            </a:pPr>
            <a:r>
              <a:rPr lang="en-IN" sz="1400" dirty="0">
                <a:solidFill>
                  <a:schemeClr val="tx1"/>
                </a:solidFill>
                <a:latin typeface="Abadi" panose="020B0604020104020204" pitchFamily="34" charset="0"/>
              </a:rPr>
              <a:t>11. CONCLUSION</a:t>
            </a:r>
            <a:endParaRPr lang="en-US" sz="1400" dirty="0">
              <a:solidFill>
                <a:schemeClr val="tx1"/>
              </a:solidFill>
              <a:latin typeface="Abadi" panose="020B0604020104020204" pitchFamily="34" charset="0"/>
            </a:endParaRPr>
          </a:p>
        </p:txBody>
      </p:sp>
    </p:spTree>
    <p:extLst>
      <p:ext uri="{BB962C8B-B14F-4D97-AF65-F5344CB8AC3E}">
        <p14:creationId xmlns:p14="http://schemas.microsoft.com/office/powerpoint/2010/main" val="26818248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F5492D-1786-2DB0-DE03-C889FC607DF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A9D8708-7B1F-53E4-7257-332C9A566AB5}"/>
              </a:ext>
            </a:extLst>
          </p:cNvPr>
          <p:cNvSpPr/>
          <p:nvPr/>
        </p:nvSpPr>
        <p:spPr>
          <a:xfrm>
            <a:off x="978458" y="832338"/>
            <a:ext cx="9996237" cy="532408"/>
          </a:xfrm>
          <a:prstGeom prst="rect">
            <a:avLst/>
          </a:prstGeom>
          <a:noFill/>
          <a:ln/>
        </p:spPr>
        <p:txBody>
          <a:bodyPr wrap="none" lIns="0" tIns="0" rIns="0" bIns="0" rtlCol="0" anchor="t"/>
          <a:lstStyle/>
          <a:p>
            <a:pPr algn="ctr">
              <a:lnSpc>
                <a:spcPct val="104000"/>
              </a:lnSpc>
            </a:pPr>
            <a:r>
              <a:rPr lang="en-IN" sz="2800" b="1" dirty="0">
                <a:latin typeface="Abadi" panose="020B0604020104020204" pitchFamily="34" charset="0"/>
              </a:rPr>
              <a:t>PROJECT INTRODUCTION</a:t>
            </a:r>
            <a:endParaRPr lang="en-US" sz="2800" b="1" dirty="0">
              <a:latin typeface="Abadi" panose="020B0604020104020204" pitchFamily="34" charset="0"/>
            </a:endParaRPr>
          </a:p>
        </p:txBody>
      </p:sp>
      <p:sp>
        <p:nvSpPr>
          <p:cNvPr id="4" name="Text 1">
            <a:extLst>
              <a:ext uri="{FF2B5EF4-FFF2-40B4-BE49-F238E27FC236}">
                <a16:creationId xmlns:a16="http://schemas.microsoft.com/office/drawing/2014/main" id="{C57E28E2-FAD5-D187-AE5D-8A4C5797935C}"/>
              </a:ext>
            </a:extLst>
          </p:cNvPr>
          <p:cNvSpPr/>
          <p:nvPr/>
        </p:nvSpPr>
        <p:spPr>
          <a:xfrm>
            <a:off x="529517" y="6187579"/>
            <a:ext cx="2245066" cy="176808"/>
          </a:xfrm>
          <a:prstGeom prst="rect">
            <a:avLst/>
          </a:prstGeom>
          <a:noFill/>
          <a:ln/>
        </p:spPr>
        <p:txBody>
          <a:bodyPr wrap="none" lIns="0" tIns="120795" rIns="76602" bIns="0" rtlCol="0" anchor="t"/>
          <a:lstStyle/>
          <a:p>
            <a:pPr marL="0" indent="0" algn="l">
              <a:lnSpc>
                <a:spcPct val="100000"/>
              </a:lnSpc>
              <a:buNone/>
            </a:pPr>
            <a:endParaRPr lang="en-US" sz="1150" dirty="0">
              <a:latin typeface="Abadi" panose="020B0604020104020204" pitchFamily="34" charset="0"/>
            </a:endParaRPr>
          </a:p>
        </p:txBody>
      </p:sp>
      <p:sp>
        <p:nvSpPr>
          <p:cNvPr id="6" name="Rectangle: Rounded Corners 5">
            <a:extLst>
              <a:ext uri="{FF2B5EF4-FFF2-40B4-BE49-F238E27FC236}">
                <a16:creationId xmlns:a16="http://schemas.microsoft.com/office/drawing/2014/main" id="{5A0945C0-856D-87BB-DC6B-558656EFFA65}"/>
              </a:ext>
            </a:extLst>
          </p:cNvPr>
          <p:cNvSpPr/>
          <p:nvPr/>
        </p:nvSpPr>
        <p:spPr>
          <a:xfrm>
            <a:off x="1503947" y="2150634"/>
            <a:ext cx="9180095" cy="3083103"/>
          </a:xfrm>
          <a:prstGeom prst="roundRect">
            <a:avLst/>
          </a:prstGeom>
          <a:solidFill>
            <a:srgbClr val="DEEEFF"/>
          </a:solidFill>
          <a:ln>
            <a:noFill/>
          </a:ln>
          <a:effectLst>
            <a:outerShdw blurRad="63500" sx="102000" sy="102000" algn="ctr" rotWithShape="0">
              <a:srgbClr val="00206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lnSpc>
                <a:spcPct val="150000"/>
              </a:lnSpc>
            </a:pPr>
            <a:r>
              <a:rPr lang="en-IN" sz="1600" dirty="0">
                <a:solidFill>
                  <a:schemeClr val="tx1"/>
                </a:solidFill>
                <a:latin typeface="Abadi" panose="020B0604020104020204" pitchFamily="34" charset="0"/>
              </a:rPr>
              <a:t>Bank Analytics is a data analysis and visualization project focused on analyzing banking data and transforming it into meaningful insights. The project covers two major areas: loan analytics and credit &amp; debit transaction analytics. Interactive dashboards were created using Excel, Power BI, and Tableau to analyze key banking KPIs, trends, and performance.</a:t>
            </a:r>
          </a:p>
        </p:txBody>
      </p:sp>
    </p:spTree>
    <p:extLst>
      <p:ext uri="{BB962C8B-B14F-4D97-AF65-F5344CB8AC3E}">
        <p14:creationId xmlns:p14="http://schemas.microsoft.com/office/powerpoint/2010/main" val="29759418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683092-9D7C-D045-61A8-40A017EAFD6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596D8AA-3EA0-230D-CF15-314D5F6DA931}"/>
              </a:ext>
            </a:extLst>
          </p:cNvPr>
          <p:cNvSpPr/>
          <p:nvPr/>
        </p:nvSpPr>
        <p:spPr>
          <a:xfrm>
            <a:off x="978458" y="692103"/>
            <a:ext cx="9996237" cy="532408"/>
          </a:xfrm>
          <a:prstGeom prst="rect">
            <a:avLst/>
          </a:prstGeom>
          <a:noFill/>
          <a:ln/>
        </p:spPr>
        <p:txBody>
          <a:bodyPr wrap="none" lIns="0" tIns="0" rIns="0" bIns="0" rtlCol="0" anchor="t"/>
          <a:lstStyle/>
          <a:p>
            <a:pPr algn="ctr">
              <a:lnSpc>
                <a:spcPct val="104000"/>
              </a:lnSpc>
            </a:pPr>
            <a:r>
              <a:rPr lang="en-IN" sz="2800" b="1" dirty="0">
                <a:latin typeface="Abadi" panose="020B0604020104020204" pitchFamily="34" charset="0"/>
              </a:rPr>
              <a:t>PROJECT OBJECTIVES</a:t>
            </a:r>
            <a:endParaRPr lang="en-US" sz="2800" b="1" dirty="0">
              <a:latin typeface="Abadi" panose="020B0604020104020204" pitchFamily="34" charset="0"/>
            </a:endParaRPr>
          </a:p>
        </p:txBody>
      </p:sp>
      <p:sp>
        <p:nvSpPr>
          <p:cNvPr id="4" name="Text 1">
            <a:extLst>
              <a:ext uri="{FF2B5EF4-FFF2-40B4-BE49-F238E27FC236}">
                <a16:creationId xmlns:a16="http://schemas.microsoft.com/office/drawing/2014/main" id="{1130CBCF-1E77-08F1-7D0A-C2FB2AD2A12D}"/>
              </a:ext>
            </a:extLst>
          </p:cNvPr>
          <p:cNvSpPr/>
          <p:nvPr/>
        </p:nvSpPr>
        <p:spPr>
          <a:xfrm>
            <a:off x="529517" y="6187579"/>
            <a:ext cx="2245066" cy="176808"/>
          </a:xfrm>
          <a:prstGeom prst="rect">
            <a:avLst/>
          </a:prstGeom>
          <a:noFill/>
          <a:ln/>
        </p:spPr>
        <p:txBody>
          <a:bodyPr wrap="none" lIns="0" tIns="120795" rIns="76602" bIns="0" rtlCol="0" anchor="t"/>
          <a:lstStyle/>
          <a:p>
            <a:pPr marL="0" indent="0" algn="l">
              <a:lnSpc>
                <a:spcPct val="100000"/>
              </a:lnSpc>
              <a:buNone/>
            </a:pPr>
            <a:endParaRPr lang="en-US" sz="1150" dirty="0">
              <a:latin typeface="Abadi" panose="020B0604020104020204" pitchFamily="34" charset="0"/>
            </a:endParaRPr>
          </a:p>
        </p:txBody>
      </p:sp>
      <p:sp>
        <p:nvSpPr>
          <p:cNvPr id="6" name="Rectangle: Rounded Corners 5">
            <a:extLst>
              <a:ext uri="{FF2B5EF4-FFF2-40B4-BE49-F238E27FC236}">
                <a16:creationId xmlns:a16="http://schemas.microsoft.com/office/drawing/2014/main" id="{7D52DF8F-E28A-407C-158B-7A74A292297C}"/>
              </a:ext>
            </a:extLst>
          </p:cNvPr>
          <p:cNvSpPr/>
          <p:nvPr/>
        </p:nvSpPr>
        <p:spPr>
          <a:xfrm>
            <a:off x="1373424" y="2261937"/>
            <a:ext cx="9445152" cy="3289555"/>
          </a:xfrm>
          <a:prstGeom prst="roundRect">
            <a:avLst/>
          </a:prstGeom>
          <a:solidFill>
            <a:srgbClr val="DEEEFF"/>
          </a:solidFill>
          <a:ln>
            <a:noFill/>
          </a:ln>
          <a:effectLst>
            <a:outerShdw blurRad="63500" sx="102000" sy="102000" algn="ctr" rotWithShape="0">
              <a:srgbClr val="00206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lvl="0" indent="-342900" algn="just">
              <a:lnSpc>
                <a:spcPct val="150000"/>
              </a:lnSpc>
              <a:buFont typeface="Arial" panose="020B0604020202020204" pitchFamily="34" charset="0"/>
              <a:buChar char="•"/>
            </a:pPr>
            <a:r>
              <a:rPr lang="en-IN" sz="1600" dirty="0">
                <a:solidFill>
                  <a:schemeClr val="tx1"/>
                </a:solidFill>
                <a:latin typeface="Abadi" panose="020B0604020104020204" pitchFamily="34" charset="0"/>
              </a:rPr>
              <a:t>To analyze banking transaction data. </a:t>
            </a:r>
          </a:p>
          <a:p>
            <a:pPr marL="342900" lvl="0" indent="-342900" algn="just">
              <a:lnSpc>
                <a:spcPct val="150000"/>
              </a:lnSpc>
              <a:buFont typeface="Arial" panose="020B0604020202020204" pitchFamily="34" charset="0"/>
              <a:buChar char="•"/>
            </a:pPr>
            <a:r>
              <a:rPr lang="en-IN" sz="1600" dirty="0">
                <a:solidFill>
                  <a:schemeClr val="tx1"/>
                </a:solidFill>
                <a:latin typeface="Abadi" panose="020B0604020104020204" pitchFamily="34" charset="0"/>
              </a:rPr>
              <a:t>To analyze loan performance, collections, interest, and delinquency.</a:t>
            </a:r>
          </a:p>
          <a:p>
            <a:pPr marL="342900" lvl="0" indent="-342900" algn="just">
              <a:lnSpc>
                <a:spcPct val="150000"/>
              </a:lnSpc>
              <a:buFont typeface="Arial" panose="020B0604020202020204" pitchFamily="34" charset="0"/>
              <a:buChar char="•"/>
            </a:pPr>
            <a:r>
              <a:rPr lang="en-IN" sz="1600" dirty="0">
                <a:solidFill>
                  <a:schemeClr val="tx1"/>
                </a:solidFill>
                <a:latin typeface="Abadi" panose="020B0604020104020204" pitchFamily="34" charset="0"/>
              </a:rPr>
              <a:t>To compare credit and debit transactions. </a:t>
            </a:r>
          </a:p>
          <a:p>
            <a:pPr marL="342900" lvl="0" indent="-342900" algn="just">
              <a:lnSpc>
                <a:spcPct val="150000"/>
              </a:lnSpc>
              <a:buFont typeface="Arial" panose="020B0604020202020204" pitchFamily="34" charset="0"/>
              <a:buChar char="•"/>
            </a:pPr>
            <a:r>
              <a:rPr lang="en-IN" sz="1600" dirty="0">
                <a:solidFill>
                  <a:schemeClr val="tx1"/>
                </a:solidFill>
                <a:latin typeface="Abadi" panose="020B0604020104020204" pitchFamily="34" charset="0"/>
              </a:rPr>
              <a:t>To identify transaction trends over time. </a:t>
            </a:r>
          </a:p>
          <a:p>
            <a:pPr marL="342900" lvl="0" indent="-342900" algn="just">
              <a:lnSpc>
                <a:spcPct val="150000"/>
              </a:lnSpc>
              <a:buFont typeface="Arial" panose="020B0604020202020204" pitchFamily="34" charset="0"/>
              <a:buChar char="•"/>
            </a:pPr>
            <a:r>
              <a:rPr lang="en-IN" sz="1600" dirty="0">
                <a:solidFill>
                  <a:schemeClr val="tx1"/>
                </a:solidFill>
                <a:latin typeface="Abadi" panose="020B0604020104020204" pitchFamily="34" charset="0"/>
              </a:rPr>
              <a:t>To analyze different transaction methods. </a:t>
            </a:r>
          </a:p>
          <a:p>
            <a:pPr marL="342900" lvl="0" indent="-342900" algn="just">
              <a:lnSpc>
                <a:spcPct val="150000"/>
              </a:lnSpc>
              <a:buFont typeface="Arial" panose="020B0604020202020204" pitchFamily="34" charset="0"/>
              <a:buChar char="•"/>
            </a:pPr>
            <a:r>
              <a:rPr lang="en-IN" sz="1600" dirty="0">
                <a:solidFill>
                  <a:schemeClr val="tx1"/>
                </a:solidFill>
                <a:latin typeface="Abadi" panose="020B0604020104020204" pitchFamily="34" charset="0"/>
              </a:rPr>
              <a:t>To create interactive dashboards for better data analysis and decision-making. </a:t>
            </a:r>
          </a:p>
          <a:p>
            <a:pPr marL="342900" indent="-342900" algn="just">
              <a:lnSpc>
                <a:spcPct val="150000"/>
              </a:lnSpc>
              <a:buFont typeface="Arial" panose="020B0604020202020204" pitchFamily="34" charset="0"/>
              <a:buChar char="•"/>
            </a:pPr>
            <a:endParaRPr lang="en-IN" sz="1600" dirty="0">
              <a:solidFill>
                <a:schemeClr val="tx1"/>
              </a:solidFill>
              <a:latin typeface="Abadi" panose="020B0604020104020204" pitchFamily="34" charset="0"/>
            </a:endParaRPr>
          </a:p>
        </p:txBody>
      </p:sp>
    </p:spTree>
    <p:extLst>
      <p:ext uri="{BB962C8B-B14F-4D97-AF65-F5344CB8AC3E}">
        <p14:creationId xmlns:p14="http://schemas.microsoft.com/office/powerpoint/2010/main" val="35868916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97A88C-95DA-F222-54C0-6523057C5BE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657AE88-AB69-F318-7A99-FFB873B517C2}"/>
              </a:ext>
            </a:extLst>
          </p:cNvPr>
          <p:cNvSpPr/>
          <p:nvPr/>
        </p:nvSpPr>
        <p:spPr>
          <a:xfrm>
            <a:off x="978458" y="859830"/>
            <a:ext cx="9996237" cy="532408"/>
          </a:xfrm>
          <a:prstGeom prst="rect">
            <a:avLst/>
          </a:prstGeom>
          <a:noFill/>
          <a:ln/>
        </p:spPr>
        <p:txBody>
          <a:bodyPr wrap="none" lIns="0" tIns="0" rIns="0" bIns="0" rtlCol="0" anchor="t"/>
          <a:lstStyle/>
          <a:p>
            <a:pPr algn="ctr">
              <a:lnSpc>
                <a:spcPct val="104000"/>
              </a:lnSpc>
            </a:pPr>
            <a:r>
              <a:rPr lang="en-IN" sz="2800" b="1" dirty="0">
                <a:latin typeface="Abadi" panose="020B0604020104020204" pitchFamily="34" charset="0"/>
              </a:rPr>
              <a:t>WHAT WE LEARNED</a:t>
            </a:r>
            <a:endParaRPr lang="en-US" sz="2800" b="1" dirty="0">
              <a:latin typeface="Abadi" panose="020B0604020104020204" pitchFamily="34" charset="0"/>
            </a:endParaRPr>
          </a:p>
        </p:txBody>
      </p:sp>
      <p:sp>
        <p:nvSpPr>
          <p:cNvPr id="4" name="Text 1">
            <a:extLst>
              <a:ext uri="{FF2B5EF4-FFF2-40B4-BE49-F238E27FC236}">
                <a16:creationId xmlns:a16="http://schemas.microsoft.com/office/drawing/2014/main" id="{4F45964B-7EA1-9C18-0557-4714C0877BD3}"/>
              </a:ext>
            </a:extLst>
          </p:cNvPr>
          <p:cNvSpPr/>
          <p:nvPr/>
        </p:nvSpPr>
        <p:spPr>
          <a:xfrm>
            <a:off x="529517" y="6187579"/>
            <a:ext cx="2245066" cy="176808"/>
          </a:xfrm>
          <a:prstGeom prst="rect">
            <a:avLst/>
          </a:prstGeom>
          <a:noFill/>
          <a:ln/>
        </p:spPr>
        <p:txBody>
          <a:bodyPr wrap="none" lIns="0" tIns="120795" rIns="76602" bIns="0" rtlCol="0" anchor="t"/>
          <a:lstStyle/>
          <a:p>
            <a:pPr marL="0" indent="0" algn="l">
              <a:lnSpc>
                <a:spcPct val="100000"/>
              </a:lnSpc>
              <a:buNone/>
            </a:pPr>
            <a:endParaRPr lang="en-US" sz="1150" dirty="0"/>
          </a:p>
        </p:txBody>
      </p:sp>
      <p:sp>
        <p:nvSpPr>
          <p:cNvPr id="5" name="Rectangle: Rounded Corners 4">
            <a:extLst>
              <a:ext uri="{FF2B5EF4-FFF2-40B4-BE49-F238E27FC236}">
                <a16:creationId xmlns:a16="http://schemas.microsoft.com/office/drawing/2014/main" id="{F2F3B969-FECB-805E-1E57-F09D273B4025}"/>
              </a:ext>
            </a:extLst>
          </p:cNvPr>
          <p:cNvSpPr/>
          <p:nvPr/>
        </p:nvSpPr>
        <p:spPr>
          <a:xfrm>
            <a:off x="978458" y="2117557"/>
            <a:ext cx="10280092" cy="3880613"/>
          </a:xfrm>
          <a:prstGeom prst="roundRect">
            <a:avLst/>
          </a:prstGeom>
          <a:solidFill>
            <a:srgbClr val="DEEEFF"/>
          </a:solidFill>
          <a:ln>
            <a:noFill/>
          </a:ln>
          <a:effectLst>
            <a:outerShdw blurRad="63500" sx="102000" sy="102000" algn="ctr" rotWithShape="0">
              <a:srgbClr val="00206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lvl="0" indent="-285750">
              <a:lnSpc>
                <a:spcPct val="150000"/>
              </a:lnSpc>
              <a:buFont typeface="Arial" panose="020B0604020202020204" pitchFamily="34" charset="0"/>
              <a:buChar char="•"/>
            </a:pPr>
            <a:r>
              <a:rPr lang="en-IN" sz="1400" dirty="0">
                <a:solidFill>
                  <a:schemeClr val="tx1"/>
                </a:solidFill>
                <a:latin typeface="Abadi" panose="020B0604020104020204" pitchFamily="34" charset="0"/>
              </a:rPr>
              <a:t>Learned how to </a:t>
            </a:r>
            <a:r>
              <a:rPr lang="en-IN" sz="1400" b="1" dirty="0">
                <a:solidFill>
                  <a:schemeClr val="tx1"/>
                </a:solidFill>
                <a:latin typeface="Abadi" panose="020B0604020104020204" pitchFamily="34" charset="0"/>
              </a:rPr>
              <a:t>clean, organize, and prepare data</a:t>
            </a:r>
            <a:r>
              <a:rPr lang="en-IN" sz="1400" dirty="0">
                <a:solidFill>
                  <a:schemeClr val="tx1"/>
                </a:solidFill>
                <a:latin typeface="Abadi" panose="020B0604020104020204" pitchFamily="34" charset="0"/>
              </a:rPr>
              <a:t> for analysis. </a:t>
            </a:r>
          </a:p>
          <a:p>
            <a:pPr marL="285750" lvl="0" indent="-285750">
              <a:lnSpc>
                <a:spcPct val="150000"/>
              </a:lnSpc>
              <a:buFont typeface="Arial" panose="020B0604020202020204" pitchFamily="34" charset="0"/>
              <a:buChar char="•"/>
            </a:pPr>
            <a:r>
              <a:rPr lang="en-IN" sz="1400" dirty="0">
                <a:solidFill>
                  <a:schemeClr val="tx1"/>
                </a:solidFill>
                <a:latin typeface="Abadi" panose="020B0604020104020204" pitchFamily="34" charset="0"/>
              </a:rPr>
              <a:t>Learned how </a:t>
            </a:r>
            <a:r>
              <a:rPr lang="en-IN" sz="1400" b="1" dirty="0">
                <a:solidFill>
                  <a:schemeClr val="tx1"/>
                </a:solidFill>
                <a:latin typeface="Abadi" panose="020B0604020104020204" pitchFamily="34" charset="0"/>
              </a:rPr>
              <a:t>Excel</a:t>
            </a:r>
            <a:r>
              <a:rPr lang="en-IN" sz="1400" dirty="0">
                <a:solidFill>
                  <a:schemeClr val="tx1"/>
                </a:solidFill>
                <a:latin typeface="Abadi" panose="020B0604020104020204" pitchFamily="34" charset="0"/>
              </a:rPr>
              <a:t> uses formulas, Pivot Tables, Pivot Charts, and slicers for quick and flexible data analysis. </a:t>
            </a:r>
          </a:p>
          <a:p>
            <a:pPr marL="285750" lvl="0" indent="-285750">
              <a:lnSpc>
                <a:spcPct val="150000"/>
              </a:lnSpc>
              <a:buFont typeface="Arial" panose="020B0604020202020204" pitchFamily="34" charset="0"/>
              <a:buChar char="•"/>
            </a:pPr>
            <a:r>
              <a:rPr lang="en-IN" sz="1400" dirty="0">
                <a:solidFill>
                  <a:schemeClr val="tx1"/>
                </a:solidFill>
                <a:latin typeface="Abadi" panose="020B0604020104020204" pitchFamily="34" charset="0"/>
              </a:rPr>
              <a:t>Explored </a:t>
            </a:r>
            <a:r>
              <a:rPr lang="en-IN" sz="1400" b="1" dirty="0">
                <a:solidFill>
                  <a:schemeClr val="tx1"/>
                </a:solidFill>
                <a:latin typeface="Abadi" panose="020B0604020104020204" pitchFamily="34" charset="0"/>
              </a:rPr>
              <a:t>Power BI</a:t>
            </a:r>
            <a:r>
              <a:rPr lang="en-IN" sz="1400" dirty="0">
                <a:solidFill>
                  <a:schemeClr val="tx1"/>
                </a:solidFill>
                <a:latin typeface="Abadi" panose="020B0604020104020204" pitchFamily="34" charset="0"/>
              </a:rPr>
              <a:t> features such as DAX measures, data modeling, interactive visuals, and cross-filtering for dynamic reporting. </a:t>
            </a:r>
          </a:p>
          <a:p>
            <a:pPr marL="285750" lvl="0" indent="-285750">
              <a:lnSpc>
                <a:spcPct val="150000"/>
              </a:lnSpc>
              <a:buFont typeface="Arial" panose="020B0604020202020204" pitchFamily="34" charset="0"/>
              <a:buChar char="•"/>
            </a:pPr>
            <a:r>
              <a:rPr lang="en-IN" sz="1400" dirty="0">
                <a:solidFill>
                  <a:schemeClr val="tx1"/>
                </a:solidFill>
                <a:latin typeface="Abadi" panose="020B0604020104020204" pitchFamily="34" charset="0"/>
              </a:rPr>
              <a:t>Learned how </a:t>
            </a:r>
            <a:r>
              <a:rPr lang="en-IN" sz="1400" b="1" dirty="0">
                <a:solidFill>
                  <a:schemeClr val="tx1"/>
                </a:solidFill>
                <a:latin typeface="Abadi" panose="020B0604020104020204" pitchFamily="34" charset="0"/>
              </a:rPr>
              <a:t>Tableau</a:t>
            </a:r>
            <a:r>
              <a:rPr lang="en-IN" sz="1400" dirty="0">
                <a:solidFill>
                  <a:schemeClr val="tx1"/>
                </a:solidFill>
                <a:latin typeface="Abadi" panose="020B0604020104020204" pitchFamily="34" charset="0"/>
              </a:rPr>
              <a:t> uses worksheets, calculated fields, the Marks card, and drag-and-drop features for interactive visual analysis. </a:t>
            </a:r>
          </a:p>
          <a:p>
            <a:pPr marL="285750" indent="-285750">
              <a:lnSpc>
                <a:spcPct val="150000"/>
              </a:lnSpc>
              <a:buFont typeface="Arial" panose="020B0604020202020204" pitchFamily="34" charset="0"/>
              <a:buChar char="•"/>
            </a:pPr>
            <a:r>
              <a:rPr lang="en-IN" sz="1400" dirty="0">
                <a:solidFill>
                  <a:schemeClr val="tx1"/>
                </a:solidFill>
                <a:latin typeface="Abadi" panose="020B0604020104020204" pitchFamily="34" charset="0"/>
              </a:rPr>
              <a:t>Used </a:t>
            </a:r>
            <a:r>
              <a:rPr lang="en-IN" sz="1400" b="1" dirty="0">
                <a:solidFill>
                  <a:schemeClr val="tx1"/>
                </a:solidFill>
                <a:latin typeface="Abadi" panose="020B0604020104020204" pitchFamily="34" charset="0"/>
              </a:rPr>
              <a:t>SQL to calculate and validate KPIs</a:t>
            </a:r>
            <a:r>
              <a:rPr lang="en-IN" sz="1400" dirty="0">
                <a:solidFill>
                  <a:schemeClr val="tx1"/>
                </a:solidFill>
                <a:latin typeface="Abadi" panose="020B0604020104020204" pitchFamily="34" charset="0"/>
              </a:rPr>
              <a:t> accurately. </a:t>
            </a:r>
          </a:p>
          <a:p>
            <a:pPr marL="285750" lvl="0" indent="-285750">
              <a:lnSpc>
                <a:spcPct val="150000"/>
              </a:lnSpc>
              <a:buFont typeface="Arial" panose="020B0604020202020204" pitchFamily="34" charset="0"/>
              <a:buChar char="•"/>
            </a:pPr>
            <a:r>
              <a:rPr lang="en-IN" sz="1400" dirty="0">
                <a:solidFill>
                  <a:schemeClr val="tx1"/>
                </a:solidFill>
                <a:latin typeface="Abadi" panose="020B0604020104020204" pitchFamily="34" charset="0"/>
              </a:rPr>
              <a:t>Understood how </a:t>
            </a:r>
            <a:r>
              <a:rPr lang="en-IN" sz="1400" b="1" dirty="0">
                <a:solidFill>
                  <a:schemeClr val="tx1"/>
                </a:solidFill>
                <a:latin typeface="Abadi" panose="020B0604020104020204" pitchFamily="34" charset="0"/>
              </a:rPr>
              <a:t>Excel, Power BI, and Tableau provide different approaches to analyzing and presenting the same data</a:t>
            </a:r>
            <a:r>
              <a:rPr lang="en-IN" sz="1400" dirty="0">
                <a:solidFill>
                  <a:schemeClr val="tx1"/>
                </a:solidFill>
                <a:latin typeface="Abadi" panose="020B0604020104020204" pitchFamily="34" charset="0"/>
              </a:rPr>
              <a:t>. </a:t>
            </a:r>
          </a:p>
          <a:p>
            <a:pPr marL="285750" lvl="0" indent="-285750">
              <a:lnSpc>
                <a:spcPct val="150000"/>
              </a:lnSpc>
              <a:buFont typeface="Arial" panose="020B0604020202020204" pitchFamily="34" charset="0"/>
              <a:buChar char="•"/>
            </a:pPr>
            <a:r>
              <a:rPr lang="en-IN" sz="1400" dirty="0">
                <a:solidFill>
                  <a:schemeClr val="tx1"/>
                </a:solidFill>
                <a:latin typeface="Abadi" panose="020B0604020104020204" pitchFamily="34" charset="0"/>
              </a:rPr>
              <a:t>Learned how interactive dashboards help </a:t>
            </a:r>
            <a:r>
              <a:rPr lang="en-IN" sz="1400" b="1" dirty="0">
                <a:solidFill>
                  <a:schemeClr val="tx1"/>
                </a:solidFill>
                <a:latin typeface="Abadi" panose="020B0604020104020204" pitchFamily="34" charset="0"/>
              </a:rPr>
              <a:t>identify trends, compare performance, and convert raw data into useful business insights</a:t>
            </a:r>
            <a:r>
              <a:rPr lang="en-IN" sz="1400" dirty="0">
                <a:solidFill>
                  <a:schemeClr val="tx1"/>
                </a:solidFill>
                <a:latin typeface="Abadi" panose="020B0604020104020204" pitchFamily="34" charset="0"/>
              </a:rPr>
              <a:t>.</a:t>
            </a:r>
          </a:p>
        </p:txBody>
      </p:sp>
    </p:spTree>
    <p:extLst>
      <p:ext uri="{BB962C8B-B14F-4D97-AF65-F5344CB8AC3E}">
        <p14:creationId xmlns:p14="http://schemas.microsoft.com/office/powerpoint/2010/main" val="37905613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CD3602-1B89-D0E0-1A85-0AC31229F2A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F9921644-20DD-0989-84AE-5DBA8CB72F73}"/>
              </a:ext>
            </a:extLst>
          </p:cNvPr>
          <p:cNvSpPr/>
          <p:nvPr/>
        </p:nvSpPr>
        <p:spPr>
          <a:xfrm>
            <a:off x="1097881" y="683403"/>
            <a:ext cx="9996237" cy="532408"/>
          </a:xfrm>
          <a:prstGeom prst="rect">
            <a:avLst/>
          </a:prstGeom>
          <a:noFill/>
          <a:ln/>
        </p:spPr>
        <p:txBody>
          <a:bodyPr wrap="none" lIns="0" tIns="0" rIns="0" bIns="0" rtlCol="0" anchor="t"/>
          <a:lstStyle/>
          <a:p>
            <a:pPr algn="ctr">
              <a:lnSpc>
                <a:spcPct val="104000"/>
              </a:lnSpc>
            </a:pPr>
            <a:r>
              <a:rPr lang="en-IN" sz="2800" b="1" dirty="0">
                <a:latin typeface="Abadi" panose="020B0604020104020204" pitchFamily="34" charset="0"/>
              </a:rPr>
              <a:t>BANK ANALYTICS KPIs</a:t>
            </a:r>
            <a:endParaRPr lang="en-US" sz="2800" b="1" dirty="0">
              <a:latin typeface="Abadi" panose="020B0604020104020204" pitchFamily="34" charset="0"/>
            </a:endParaRPr>
          </a:p>
        </p:txBody>
      </p:sp>
      <p:sp>
        <p:nvSpPr>
          <p:cNvPr id="4" name="Text 1">
            <a:extLst>
              <a:ext uri="{FF2B5EF4-FFF2-40B4-BE49-F238E27FC236}">
                <a16:creationId xmlns:a16="http://schemas.microsoft.com/office/drawing/2014/main" id="{594E2F18-78E9-AE01-470A-F5D3982E8FBF}"/>
              </a:ext>
            </a:extLst>
          </p:cNvPr>
          <p:cNvSpPr/>
          <p:nvPr/>
        </p:nvSpPr>
        <p:spPr>
          <a:xfrm>
            <a:off x="529517" y="6187579"/>
            <a:ext cx="2245066" cy="176808"/>
          </a:xfrm>
          <a:prstGeom prst="rect">
            <a:avLst/>
          </a:prstGeom>
          <a:noFill/>
          <a:ln/>
        </p:spPr>
        <p:txBody>
          <a:bodyPr wrap="none" lIns="0" tIns="120795" rIns="76602" bIns="0" rtlCol="0" anchor="t"/>
          <a:lstStyle/>
          <a:p>
            <a:pPr marL="0" indent="0" algn="l">
              <a:lnSpc>
                <a:spcPct val="100000"/>
              </a:lnSpc>
              <a:buNone/>
            </a:pPr>
            <a:endParaRPr lang="en-US" sz="1150" dirty="0">
              <a:latin typeface="Abadi" panose="020B0604020104020204" pitchFamily="34" charset="0"/>
            </a:endParaRPr>
          </a:p>
        </p:txBody>
      </p:sp>
      <p:cxnSp>
        <p:nvCxnSpPr>
          <p:cNvPr id="55" name="Straight Connector 54">
            <a:extLst>
              <a:ext uri="{FF2B5EF4-FFF2-40B4-BE49-F238E27FC236}">
                <a16:creationId xmlns:a16="http://schemas.microsoft.com/office/drawing/2014/main" id="{BCD2505B-87CF-D1C4-2B36-378CD7519E36}"/>
              </a:ext>
            </a:extLst>
          </p:cNvPr>
          <p:cNvCxnSpPr>
            <a:cxnSpLocks/>
          </p:cNvCxnSpPr>
          <p:nvPr/>
        </p:nvCxnSpPr>
        <p:spPr>
          <a:xfrm>
            <a:off x="358875" y="3011692"/>
            <a:ext cx="11474245" cy="20733"/>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22F51E58-D40B-7E5A-06FF-E1E3DB65283D}"/>
              </a:ext>
            </a:extLst>
          </p:cNvPr>
          <p:cNvCxnSpPr>
            <a:cxnSpLocks/>
          </p:cNvCxnSpPr>
          <p:nvPr/>
        </p:nvCxnSpPr>
        <p:spPr>
          <a:xfrm>
            <a:off x="358877" y="4798824"/>
            <a:ext cx="11474245" cy="20733"/>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7130786D-673B-B7D0-B9DF-1DF3ECED81D7}"/>
              </a:ext>
            </a:extLst>
          </p:cNvPr>
          <p:cNvSpPr txBox="1"/>
          <p:nvPr/>
        </p:nvSpPr>
        <p:spPr>
          <a:xfrm>
            <a:off x="2882096" y="1639017"/>
            <a:ext cx="7743463" cy="791370"/>
          </a:xfrm>
          <a:prstGeom prst="rect">
            <a:avLst/>
          </a:prstGeom>
          <a:noFill/>
        </p:spPr>
        <p:txBody>
          <a:bodyPr wrap="square" rtlCol="0">
            <a:spAutoFit/>
          </a:bodyPr>
          <a:lstStyle/>
          <a:p>
            <a:pPr>
              <a:lnSpc>
                <a:spcPct val="150000"/>
              </a:lnSpc>
            </a:pPr>
            <a:r>
              <a:rPr lang="en-IN" sz="1600" dirty="0">
                <a:latin typeface="Abadi" panose="020B0604020104020204" pitchFamily="34" charset="0"/>
              </a:rPr>
              <a:t>Represents the </a:t>
            </a:r>
            <a:r>
              <a:rPr lang="en-IN" sz="1600" b="1" dirty="0">
                <a:latin typeface="Abadi" panose="020B0604020104020204" pitchFamily="34" charset="0"/>
              </a:rPr>
              <a:t>total amount funded across all loans</a:t>
            </a:r>
            <a:r>
              <a:rPr lang="en-IN" sz="1600" dirty="0">
                <a:latin typeface="Abadi" panose="020B0604020104020204" pitchFamily="34" charset="0"/>
              </a:rPr>
              <a:t>. It helps measure the bank’s overall lending volume and financial activity.</a:t>
            </a:r>
          </a:p>
        </p:txBody>
      </p:sp>
      <p:sp>
        <p:nvSpPr>
          <p:cNvPr id="70" name="TextBox 69">
            <a:extLst>
              <a:ext uri="{FF2B5EF4-FFF2-40B4-BE49-F238E27FC236}">
                <a16:creationId xmlns:a16="http://schemas.microsoft.com/office/drawing/2014/main" id="{FDB60B6A-46C6-EEF7-750D-273F3F57F0F3}"/>
              </a:ext>
            </a:extLst>
          </p:cNvPr>
          <p:cNvSpPr txBox="1"/>
          <p:nvPr/>
        </p:nvSpPr>
        <p:spPr>
          <a:xfrm>
            <a:off x="2882094" y="3452915"/>
            <a:ext cx="7743463" cy="791370"/>
          </a:xfrm>
          <a:prstGeom prst="rect">
            <a:avLst/>
          </a:prstGeom>
          <a:noFill/>
        </p:spPr>
        <p:txBody>
          <a:bodyPr wrap="square" rtlCol="0">
            <a:spAutoFit/>
          </a:bodyPr>
          <a:lstStyle/>
          <a:p>
            <a:pPr>
              <a:lnSpc>
                <a:spcPct val="150000"/>
              </a:lnSpc>
            </a:pPr>
            <a:r>
              <a:rPr lang="en-IN" sz="1600" dirty="0">
                <a:latin typeface="Abadi" panose="020B0604020104020204" pitchFamily="34" charset="0"/>
              </a:rPr>
              <a:t>Represents the </a:t>
            </a:r>
            <a:r>
              <a:rPr lang="en-IN" sz="1600" b="1" dirty="0">
                <a:latin typeface="Abadi" panose="020B0604020104020204" pitchFamily="34" charset="0"/>
              </a:rPr>
              <a:t>total number of loans recorded in the dataset</a:t>
            </a:r>
            <a:r>
              <a:rPr lang="en-IN" sz="1600" dirty="0">
                <a:latin typeface="Abadi" panose="020B0604020104020204" pitchFamily="34" charset="0"/>
              </a:rPr>
              <a:t>. It provides an overview of the bank’s overall loan portfolio and lending activity.</a:t>
            </a:r>
          </a:p>
        </p:txBody>
      </p:sp>
      <p:sp>
        <p:nvSpPr>
          <p:cNvPr id="72" name="TextBox 71">
            <a:extLst>
              <a:ext uri="{FF2B5EF4-FFF2-40B4-BE49-F238E27FC236}">
                <a16:creationId xmlns:a16="http://schemas.microsoft.com/office/drawing/2014/main" id="{CD8A1DF0-AEC7-AF87-87D1-14BE328C55F8}"/>
              </a:ext>
            </a:extLst>
          </p:cNvPr>
          <p:cNvSpPr txBox="1"/>
          <p:nvPr/>
        </p:nvSpPr>
        <p:spPr>
          <a:xfrm>
            <a:off x="2882095" y="5261537"/>
            <a:ext cx="7743463" cy="791370"/>
          </a:xfrm>
          <a:prstGeom prst="rect">
            <a:avLst/>
          </a:prstGeom>
          <a:noFill/>
        </p:spPr>
        <p:txBody>
          <a:bodyPr wrap="square">
            <a:spAutoFit/>
          </a:bodyPr>
          <a:lstStyle/>
          <a:p>
            <a:pPr>
              <a:lnSpc>
                <a:spcPct val="150000"/>
              </a:lnSpc>
            </a:pPr>
            <a:r>
              <a:rPr lang="en-IN" sz="1600" dirty="0">
                <a:latin typeface="Abadi" panose="020B0604020104020204" pitchFamily="34" charset="0"/>
              </a:rPr>
              <a:t>Represents the </a:t>
            </a:r>
            <a:r>
              <a:rPr lang="en-IN" sz="1600" b="1" dirty="0">
                <a:latin typeface="Abadi" panose="020B0604020104020204" pitchFamily="34" charset="0"/>
              </a:rPr>
              <a:t>total number of loans that have not been verified</a:t>
            </a:r>
            <a:r>
              <a:rPr lang="en-IN" sz="1600" dirty="0">
                <a:latin typeface="Abadi" panose="020B0604020104020204" pitchFamily="34" charset="0"/>
              </a:rPr>
              <a:t>. It helps identify pending or unverified loan records that may require further review or validation.</a:t>
            </a:r>
          </a:p>
        </p:txBody>
      </p:sp>
      <p:pic>
        <p:nvPicPr>
          <p:cNvPr id="85" name="Picture 84">
            <a:extLst>
              <a:ext uri="{FF2B5EF4-FFF2-40B4-BE49-F238E27FC236}">
                <a16:creationId xmlns:a16="http://schemas.microsoft.com/office/drawing/2014/main" id="{90906099-0F26-D471-570A-D67525CACB10}"/>
              </a:ext>
            </a:extLst>
          </p:cNvPr>
          <p:cNvPicPr>
            <a:picLocks noChangeAspect="1"/>
          </p:cNvPicPr>
          <p:nvPr/>
        </p:nvPicPr>
        <p:blipFill>
          <a:blip r:embed="rId3"/>
          <a:stretch>
            <a:fillRect/>
          </a:stretch>
        </p:blipFill>
        <p:spPr>
          <a:xfrm>
            <a:off x="695302" y="1324628"/>
            <a:ext cx="2079281" cy="1269790"/>
          </a:xfrm>
          <a:prstGeom prst="rect">
            <a:avLst/>
          </a:prstGeom>
        </p:spPr>
      </p:pic>
      <p:pic>
        <p:nvPicPr>
          <p:cNvPr id="87" name="Picture 86">
            <a:extLst>
              <a:ext uri="{FF2B5EF4-FFF2-40B4-BE49-F238E27FC236}">
                <a16:creationId xmlns:a16="http://schemas.microsoft.com/office/drawing/2014/main" id="{7E554F6B-7315-1D82-07BC-497A28B17EE1}"/>
              </a:ext>
            </a:extLst>
          </p:cNvPr>
          <p:cNvPicPr>
            <a:picLocks noChangeAspect="1"/>
          </p:cNvPicPr>
          <p:nvPr/>
        </p:nvPicPr>
        <p:blipFill>
          <a:blip r:embed="rId4"/>
          <a:stretch>
            <a:fillRect/>
          </a:stretch>
        </p:blipFill>
        <p:spPr>
          <a:xfrm>
            <a:off x="695302" y="3204003"/>
            <a:ext cx="2065199" cy="1196444"/>
          </a:xfrm>
          <a:prstGeom prst="rect">
            <a:avLst/>
          </a:prstGeom>
        </p:spPr>
      </p:pic>
      <p:pic>
        <p:nvPicPr>
          <p:cNvPr id="89" name="Picture 88">
            <a:extLst>
              <a:ext uri="{FF2B5EF4-FFF2-40B4-BE49-F238E27FC236}">
                <a16:creationId xmlns:a16="http://schemas.microsoft.com/office/drawing/2014/main" id="{81BA5293-628C-1A3D-58AC-02A8428D8610}"/>
              </a:ext>
            </a:extLst>
          </p:cNvPr>
          <p:cNvPicPr>
            <a:picLocks noChangeAspect="1"/>
          </p:cNvPicPr>
          <p:nvPr/>
        </p:nvPicPr>
        <p:blipFill>
          <a:blip r:embed="rId5"/>
          <a:stretch>
            <a:fillRect/>
          </a:stretch>
        </p:blipFill>
        <p:spPr>
          <a:xfrm>
            <a:off x="756267" y="4878358"/>
            <a:ext cx="1943268" cy="1486029"/>
          </a:xfrm>
          <a:prstGeom prst="rect">
            <a:avLst/>
          </a:prstGeom>
        </p:spPr>
      </p:pic>
    </p:spTree>
    <p:extLst>
      <p:ext uri="{BB962C8B-B14F-4D97-AF65-F5344CB8AC3E}">
        <p14:creationId xmlns:p14="http://schemas.microsoft.com/office/powerpoint/2010/main" val="5799395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73BE4E-258E-4854-EC62-6DAAC43BCC6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0D79A49-8963-5571-79AA-61E207BB5215}"/>
              </a:ext>
            </a:extLst>
          </p:cNvPr>
          <p:cNvSpPr/>
          <p:nvPr/>
        </p:nvSpPr>
        <p:spPr>
          <a:xfrm>
            <a:off x="1097881" y="683403"/>
            <a:ext cx="9996237" cy="532408"/>
          </a:xfrm>
          <a:prstGeom prst="rect">
            <a:avLst/>
          </a:prstGeom>
          <a:noFill/>
          <a:ln/>
        </p:spPr>
        <p:txBody>
          <a:bodyPr wrap="none" lIns="0" tIns="0" rIns="0" bIns="0" rtlCol="0" anchor="t"/>
          <a:lstStyle/>
          <a:p>
            <a:pPr algn="ctr">
              <a:lnSpc>
                <a:spcPct val="104000"/>
              </a:lnSpc>
            </a:pPr>
            <a:endParaRPr lang="en-US" sz="3300" b="1" dirty="0">
              <a:latin typeface="Abadi" panose="020B0604020104020204" pitchFamily="34" charset="0"/>
            </a:endParaRPr>
          </a:p>
        </p:txBody>
      </p:sp>
      <p:sp>
        <p:nvSpPr>
          <p:cNvPr id="4" name="Text 1">
            <a:extLst>
              <a:ext uri="{FF2B5EF4-FFF2-40B4-BE49-F238E27FC236}">
                <a16:creationId xmlns:a16="http://schemas.microsoft.com/office/drawing/2014/main" id="{6D950993-FBF7-3E45-07DD-8069BDE63C02}"/>
              </a:ext>
            </a:extLst>
          </p:cNvPr>
          <p:cNvSpPr/>
          <p:nvPr/>
        </p:nvSpPr>
        <p:spPr>
          <a:xfrm>
            <a:off x="529517" y="6187579"/>
            <a:ext cx="2245066" cy="176808"/>
          </a:xfrm>
          <a:prstGeom prst="rect">
            <a:avLst/>
          </a:prstGeom>
          <a:noFill/>
          <a:ln/>
        </p:spPr>
        <p:txBody>
          <a:bodyPr wrap="none" lIns="0" tIns="120795" rIns="76602" bIns="0" rtlCol="0" anchor="t"/>
          <a:lstStyle/>
          <a:p>
            <a:pPr marL="0" indent="0" algn="l">
              <a:lnSpc>
                <a:spcPct val="100000"/>
              </a:lnSpc>
              <a:buNone/>
            </a:pPr>
            <a:endParaRPr lang="en-US" sz="1150" dirty="0">
              <a:latin typeface="Abadi" panose="020B0604020104020204" pitchFamily="34" charset="0"/>
            </a:endParaRPr>
          </a:p>
        </p:txBody>
      </p:sp>
      <p:cxnSp>
        <p:nvCxnSpPr>
          <p:cNvPr id="55" name="Straight Connector 54">
            <a:extLst>
              <a:ext uri="{FF2B5EF4-FFF2-40B4-BE49-F238E27FC236}">
                <a16:creationId xmlns:a16="http://schemas.microsoft.com/office/drawing/2014/main" id="{68E1FDEF-1087-2C07-6607-AECD4541064A}"/>
              </a:ext>
            </a:extLst>
          </p:cNvPr>
          <p:cNvCxnSpPr>
            <a:cxnSpLocks/>
          </p:cNvCxnSpPr>
          <p:nvPr/>
        </p:nvCxnSpPr>
        <p:spPr>
          <a:xfrm>
            <a:off x="358875" y="3011692"/>
            <a:ext cx="11474245" cy="20733"/>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614A5EBB-9B97-87DA-DCEC-F3FE8C79078F}"/>
              </a:ext>
            </a:extLst>
          </p:cNvPr>
          <p:cNvCxnSpPr>
            <a:cxnSpLocks/>
          </p:cNvCxnSpPr>
          <p:nvPr/>
        </p:nvCxnSpPr>
        <p:spPr>
          <a:xfrm>
            <a:off x="358877" y="4798824"/>
            <a:ext cx="11474245" cy="20733"/>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D0662A76-5185-1805-2295-2D5AE33BC24C}"/>
              </a:ext>
            </a:extLst>
          </p:cNvPr>
          <p:cNvSpPr txBox="1"/>
          <p:nvPr/>
        </p:nvSpPr>
        <p:spPr>
          <a:xfrm>
            <a:off x="2774583" y="1634444"/>
            <a:ext cx="7993680" cy="791370"/>
          </a:xfrm>
          <a:prstGeom prst="rect">
            <a:avLst/>
          </a:prstGeom>
          <a:noFill/>
        </p:spPr>
        <p:txBody>
          <a:bodyPr wrap="square">
            <a:spAutoFit/>
          </a:bodyPr>
          <a:lstStyle/>
          <a:p>
            <a:pPr>
              <a:lnSpc>
                <a:spcPct val="150000"/>
              </a:lnSpc>
            </a:pPr>
            <a:r>
              <a:rPr lang="en-IN" sz="1600" dirty="0">
                <a:latin typeface="Abadi" panose="020B0604020104020204" pitchFamily="34" charset="0"/>
              </a:rPr>
              <a:t>Represents the </a:t>
            </a:r>
            <a:r>
              <a:rPr lang="en-IN" sz="1600" b="1" dirty="0">
                <a:latin typeface="Abadi" panose="020B0604020104020204" pitchFamily="34" charset="0"/>
              </a:rPr>
              <a:t>total amount collected from borrowers</a:t>
            </a:r>
            <a:r>
              <a:rPr lang="en-IN" sz="1600" dirty="0">
                <a:latin typeface="Abadi" panose="020B0604020104020204" pitchFamily="34" charset="0"/>
              </a:rPr>
              <a:t>. It helps measure overall loan repayments and the bank’s collection performance.</a:t>
            </a:r>
          </a:p>
        </p:txBody>
      </p:sp>
      <p:sp>
        <p:nvSpPr>
          <p:cNvPr id="9" name="TextBox 8">
            <a:extLst>
              <a:ext uri="{FF2B5EF4-FFF2-40B4-BE49-F238E27FC236}">
                <a16:creationId xmlns:a16="http://schemas.microsoft.com/office/drawing/2014/main" id="{1EA1434A-6340-890A-1B2C-68EC86971CE1}"/>
              </a:ext>
            </a:extLst>
          </p:cNvPr>
          <p:cNvSpPr txBox="1"/>
          <p:nvPr/>
        </p:nvSpPr>
        <p:spPr>
          <a:xfrm>
            <a:off x="2774583" y="3391398"/>
            <a:ext cx="7993680" cy="791370"/>
          </a:xfrm>
          <a:prstGeom prst="rect">
            <a:avLst/>
          </a:prstGeom>
          <a:noFill/>
        </p:spPr>
        <p:txBody>
          <a:bodyPr wrap="square">
            <a:spAutoFit/>
          </a:bodyPr>
          <a:lstStyle/>
          <a:p>
            <a:pPr>
              <a:lnSpc>
                <a:spcPct val="150000"/>
              </a:lnSpc>
            </a:pPr>
            <a:r>
              <a:rPr lang="en-IN" sz="1600" dirty="0">
                <a:latin typeface="Abadi" panose="020B0604020104020204" pitchFamily="34" charset="0"/>
              </a:rPr>
              <a:t>Represents the </a:t>
            </a:r>
            <a:r>
              <a:rPr lang="en-IN" sz="1600" b="1" dirty="0">
                <a:latin typeface="Abadi" panose="020B0604020104020204" pitchFamily="34" charset="0"/>
              </a:rPr>
              <a:t>total interest earned from all loans</a:t>
            </a:r>
            <a:r>
              <a:rPr lang="en-IN" sz="1600" dirty="0">
                <a:latin typeface="Abadi" panose="020B0604020104020204" pitchFamily="34" charset="0"/>
              </a:rPr>
              <a:t>. It helps measure the income generated through the bank’s lending activities.</a:t>
            </a:r>
          </a:p>
        </p:txBody>
      </p:sp>
      <p:sp>
        <p:nvSpPr>
          <p:cNvPr id="12" name="TextBox 11">
            <a:extLst>
              <a:ext uri="{FF2B5EF4-FFF2-40B4-BE49-F238E27FC236}">
                <a16:creationId xmlns:a16="http://schemas.microsoft.com/office/drawing/2014/main" id="{3824B321-F56F-F6AC-3159-9068D3DF1815}"/>
              </a:ext>
            </a:extLst>
          </p:cNvPr>
          <p:cNvSpPr txBox="1"/>
          <p:nvPr/>
        </p:nvSpPr>
        <p:spPr>
          <a:xfrm>
            <a:off x="2774583" y="5176326"/>
            <a:ext cx="7993680" cy="792461"/>
          </a:xfrm>
          <a:prstGeom prst="rect">
            <a:avLst/>
          </a:prstGeom>
          <a:noFill/>
        </p:spPr>
        <p:txBody>
          <a:bodyPr wrap="square">
            <a:spAutoFit/>
          </a:bodyPr>
          <a:lstStyle/>
          <a:p>
            <a:pPr>
              <a:lnSpc>
                <a:spcPct val="150000"/>
              </a:lnSpc>
              <a:buNone/>
            </a:pPr>
            <a:r>
              <a:rPr lang="en-IN" sz="1600" dirty="0">
                <a:latin typeface="Abadi" panose="020B0604020104020204" pitchFamily="34" charset="0"/>
              </a:rPr>
              <a:t>Represents </a:t>
            </a:r>
            <a:r>
              <a:rPr lang="en-IN" sz="1600" b="1" dirty="0">
                <a:latin typeface="Abadi" panose="020B0604020104020204" pitchFamily="34" charset="0"/>
              </a:rPr>
              <a:t>the total number of clients with overdue </a:t>
            </a:r>
            <a:r>
              <a:rPr lang="en-IN" sz="1600" dirty="0">
                <a:latin typeface="Abadi" panose="020B0604020104020204" pitchFamily="34" charset="0"/>
              </a:rPr>
              <a:t>or delayed loan payments. It helps identify clients with repayment issues and assess potential credit risk.</a:t>
            </a:r>
          </a:p>
        </p:txBody>
      </p:sp>
      <p:pic>
        <p:nvPicPr>
          <p:cNvPr id="15" name="Picture 14">
            <a:extLst>
              <a:ext uri="{FF2B5EF4-FFF2-40B4-BE49-F238E27FC236}">
                <a16:creationId xmlns:a16="http://schemas.microsoft.com/office/drawing/2014/main" id="{700E1C2B-CC22-6E85-56EC-709BFAAECF5C}"/>
              </a:ext>
            </a:extLst>
          </p:cNvPr>
          <p:cNvPicPr>
            <a:picLocks noChangeAspect="1"/>
          </p:cNvPicPr>
          <p:nvPr/>
        </p:nvPicPr>
        <p:blipFill>
          <a:blip r:embed="rId3"/>
          <a:srcRect t="7151"/>
          <a:stretch>
            <a:fillRect/>
          </a:stretch>
        </p:blipFill>
        <p:spPr>
          <a:xfrm>
            <a:off x="638502" y="1435693"/>
            <a:ext cx="2027096" cy="1217025"/>
          </a:xfrm>
          <a:prstGeom prst="rect">
            <a:avLst/>
          </a:prstGeom>
        </p:spPr>
      </p:pic>
      <p:pic>
        <p:nvPicPr>
          <p:cNvPr id="17" name="Picture 16">
            <a:extLst>
              <a:ext uri="{FF2B5EF4-FFF2-40B4-BE49-F238E27FC236}">
                <a16:creationId xmlns:a16="http://schemas.microsoft.com/office/drawing/2014/main" id="{25D84BF6-37C7-EBE6-934B-21ABC041B6B7}"/>
              </a:ext>
            </a:extLst>
          </p:cNvPr>
          <p:cNvPicPr>
            <a:picLocks noChangeAspect="1"/>
          </p:cNvPicPr>
          <p:nvPr/>
        </p:nvPicPr>
        <p:blipFill>
          <a:blip r:embed="rId4"/>
          <a:stretch>
            <a:fillRect/>
          </a:stretch>
        </p:blipFill>
        <p:spPr>
          <a:xfrm>
            <a:off x="638502" y="3168983"/>
            <a:ext cx="2027096" cy="1219306"/>
          </a:xfrm>
          <a:prstGeom prst="rect">
            <a:avLst/>
          </a:prstGeom>
        </p:spPr>
      </p:pic>
      <p:pic>
        <p:nvPicPr>
          <p:cNvPr id="19" name="Picture 18">
            <a:extLst>
              <a:ext uri="{FF2B5EF4-FFF2-40B4-BE49-F238E27FC236}">
                <a16:creationId xmlns:a16="http://schemas.microsoft.com/office/drawing/2014/main" id="{93A4F789-4BF9-87C3-637A-9EC190CEAB0C}"/>
              </a:ext>
            </a:extLst>
          </p:cNvPr>
          <p:cNvPicPr>
            <a:picLocks noChangeAspect="1"/>
          </p:cNvPicPr>
          <p:nvPr/>
        </p:nvPicPr>
        <p:blipFill>
          <a:blip r:embed="rId5"/>
          <a:stretch>
            <a:fillRect/>
          </a:stretch>
        </p:blipFill>
        <p:spPr>
          <a:xfrm>
            <a:off x="638502" y="4856199"/>
            <a:ext cx="2027095" cy="1562235"/>
          </a:xfrm>
          <a:prstGeom prst="rect">
            <a:avLst/>
          </a:prstGeom>
        </p:spPr>
      </p:pic>
    </p:spTree>
    <p:extLst>
      <p:ext uri="{BB962C8B-B14F-4D97-AF65-F5344CB8AC3E}">
        <p14:creationId xmlns:p14="http://schemas.microsoft.com/office/powerpoint/2010/main" val="41249488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BD779D-C5DA-D6D8-1F05-1649BB8C706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ED8E71B-241E-8802-891D-AAD0A01E0E2B}"/>
              </a:ext>
            </a:extLst>
          </p:cNvPr>
          <p:cNvSpPr/>
          <p:nvPr/>
        </p:nvSpPr>
        <p:spPr>
          <a:xfrm>
            <a:off x="1097881" y="631089"/>
            <a:ext cx="9996237" cy="532408"/>
          </a:xfrm>
          <a:prstGeom prst="rect">
            <a:avLst/>
          </a:prstGeom>
          <a:noFill/>
          <a:ln/>
        </p:spPr>
        <p:txBody>
          <a:bodyPr wrap="none" lIns="0" tIns="0" rIns="0" bIns="0" rtlCol="0" anchor="t"/>
          <a:lstStyle/>
          <a:p>
            <a:pPr algn="ctr">
              <a:lnSpc>
                <a:spcPct val="104000"/>
              </a:lnSpc>
            </a:pPr>
            <a:r>
              <a:rPr lang="en-IN" sz="2800" b="1" dirty="0">
                <a:latin typeface="Abadi" panose="020B0604020104020204" pitchFamily="34" charset="0"/>
              </a:rPr>
              <a:t>BANK CREDIT &amp; DEBIT KPIs</a:t>
            </a:r>
            <a:endParaRPr lang="en-US" sz="2800" b="1" dirty="0">
              <a:latin typeface="Abadi" panose="020B0604020104020204" pitchFamily="34" charset="0"/>
            </a:endParaRPr>
          </a:p>
        </p:txBody>
      </p:sp>
      <p:sp>
        <p:nvSpPr>
          <p:cNvPr id="4" name="Text 1">
            <a:extLst>
              <a:ext uri="{FF2B5EF4-FFF2-40B4-BE49-F238E27FC236}">
                <a16:creationId xmlns:a16="http://schemas.microsoft.com/office/drawing/2014/main" id="{E8DF52BD-7B8F-74F6-B773-65F5DAA552C1}"/>
              </a:ext>
            </a:extLst>
          </p:cNvPr>
          <p:cNvSpPr/>
          <p:nvPr/>
        </p:nvSpPr>
        <p:spPr>
          <a:xfrm>
            <a:off x="529517" y="6187579"/>
            <a:ext cx="2245066" cy="176808"/>
          </a:xfrm>
          <a:prstGeom prst="rect">
            <a:avLst/>
          </a:prstGeom>
          <a:noFill/>
          <a:ln/>
        </p:spPr>
        <p:txBody>
          <a:bodyPr wrap="none" lIns="0" tIns="120795" rIns="76602" bIns="0" rtlCol="0" anchor="t"/>
          <a:lstStyle/>
          <a:p>
            <a:pPr marL="0" indent="0" algn="l">
              <a:lnSpc>
                <a:spcPct val="100000"/>
              </a:lnSpc>
              <a:buNone/>
            </a:pPr>
            <a:endParaRPr lang="en-US" sz="1150" dirty="0">
              <a:latin typeface="Abadi" panose="020B0604020104020204" pitchFamily="34" charset="0"/>
            </a:endParaRPr>
          </a:p>
        </p:txBody>
      </p:sp>
      <p:cxnSp>
        <p:nvCxnSpPr>
          <p:cNvPr id="55" name="Straight Connector 54">
            <a:extLst>
              <a:ext uri="{FF2B5EF4-FFF2-40B4-BE49-F238E27FC236}">
                <a16:creationId xmlns:a16="http://schemas.microsoft.com/office/drawing/2014/main" id="{82CE0117-820D-0F9B-D377-9E0BDB9B9E47}"/>
              </a:ext>
            </a:extLst>
          </p:cNvPr>
          <p:cNvCxnSpPr>
            <a:cxnSpLocks/>
          </p:cNvCxnSpPr>
          <p:nvPr/>
        </p:nvCxnSpPr>
        <p:spPr>
          <a:xfrm>
            <a:off x="358875" y="3011692"/>
            <a:ext cx="11474245" cy="20733"/>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75B7BC7C-86E2-7A80-B024-88291E2A341B}"/>
              </a:ext>
            </a:extLst>
          </p:cNvPr>
          <p:cNvCxnSpPr>
            <a:cxnSpLocks/>
          </p:cNvCxnSpPr>
          <p:nvPr/>
        </p:nvCxnSpPr>
        <p:spPr>
          <a:xfrm>
            <a:off x="358877" y="4798824"/>
            <a:ext cx="11474245" cy="20733"/>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C9DBD6BD-5E52-62A2-228A-2A7F2C65EEB8}"/>
              </a:ext>
            </a:extLst>
          </p:cNvPr>
          <p:cNvSpPr txBox="1"/>
          <p:nvPr/>
        </p:nvSpPr>
        <p:spPr>
          <a:xfrm>
            <a:off x="2774583" y="1674601"/>
            <a:ext cx="7813206" cy="791370"/>
          </a:xfrm>
          <a:prstGeom prst="rect">
            <a:avLst/>
          </a:prstGeom>
          <a:noFill/>
        </p:spPr>
        <p:txBody>
          <a:bodyPr wrap="square">
            <a:spAutoFit/>
          </a:bodyPr>
          <a:lstStyle/>
          <a:p>
            <a:pPr>
              <a:lnSpc>
                <a:spcPct val="150000"/>
              </a:lnSpc>
            </a:pPr>
            <a:r>
              <a:rPr lang="en-IN" sz="1600" dirty="0">
                <a:latin typeface="Abadi" panose="020B0604020104020204" pitchFamily="34" charset="0"/>
              </a:rPr>
              <a:t>Represents the </a:t>
            </a:r>
            <a:r>
              <a:rPr lang="en-IN" sz="1600" b="1" dirty="0">
                <a:latin typeface="Abadi" panose="020B0604020104020204" pitchFamily="34" charset="0"/>
              </a:rPr>
              <a:t>total value of all credit transactions</a:t>
            </a:r>
            <a:r>
              <a:rPr lang="en-IN" sz="1600" dirty="0">
                <a:latin typeface="Abadi" panose="020B0604020104020204" pitchFamily="34" charset="0"/>
              </a:rPr>
              <a:t>. It shows the overall amount of money credited or received.</a:t>
            </a:r>
          </a:p>
        </p:txBody>
      </p:sp>
      <p:sp>
        <p:nvSpPr>
          <p:cNvPr id="9" name="TextBox 8">
            <a:extLst>
              <a:ext uri="{FF2B5EF4-FFF2-40B4-BE49-F238E27FC236}">
                <a16:creationId xmlns:a16="http://schemas.microsoft.com/office/drawing/2014/main" id="{7294496F-6064-F232-5E04-694694CB2FD7}"/>
              </a:ext>
            </a:extLst>
          </p:cNvPr>
          <p:cNvSpPr txBox="1"/>
          <p:nvPr/>
        </p:nvSpPr>
        <p:spPr>
          <a:xfrm>
            <a:off x="2774583" y="3441700"/>
            <a:ext cx="7813206" cy="1160702"/>
          </a:xfrm>
          <a:prstGeom prst="rect">
            <a:avLst/>
          </a:prstGeom>
          <a:noFill/>
        </p:spPr>
        <p:txBody>
          <a:bodyPr wrap="square">
            <a:spAutoFit/>
          </a:bodyPr>
          <a:lstStyle/>
          <a:p>
            <a:pPr>
              <a:lnSpc>
                <a:spcPct val="150000"/>
              </a:lnSpc>
              <a:buNone/>
            </a:pPr>
            <a:r>
              <a:rPr lang="en-IN" sz="1600" dirty="0">
                <a:latin typeface="Abadi" panose="020B0604020104020204" pitchFamily="34" charset="0"/>
              </a:rPr>
              <a:t>Represents the </a:t>
            </a:r>
            <a:r>
              <a:rPr lang="en-IN" sz="1600" b="1" dirty="0">
                <a:latin typeface="Abadi" panose="020B0604020104020204" pitchFamily="34" charset="0"/>
              </a:rPr>
              <a:t>total value of all debit transactions</a:t>
            </a:r>
            <a:r>
              <a:rPr lang="en-IN" sz="1600" dirty="0">
                <a:latin typeface="Abadi" panose="020B0604020104020204" pitchFamily="34" charset="0"/>
              </a:rPr>
              <a:t>. It shows the overall amount of money debited or spent.</a:t>
            </a:r>
          </a:p>
          <a:p>
            <a:pPr>
              <a:lnSpc>
                <a:spcPct val="150000"/>
              </a:lnSpc>
              <a:buNone/>
            </a:pPr>
            <a:endParaRPr lang="en-IN" sz="1600" b="1" dirty="0">
              <a:latin typeface="Abadi" panose="020B0604020104020204" pitchFamily="34" charset="0"/>
            </a:endParaRPr>
          </a:p>
        </p:txBody>
      </p:sp>
      <p:sp>
        <p:nvSpPr>
          <p:cNvPr id="12" name="TextBox 11">
            <a:extLst>
              <a:ext uri="{FF2B5EF4-FFF2-40B4-BE49-F238E27FC236}">
                <a16:creationId xmlns:a16="http://schemas.microsoft.com/office/drawing/2014/main" id="{A2D881E0-DB56-2715-6970-DBCD8357A920}"/>
              </a:ext>
            </a:extLst>
          </p:cNvPr>
          <p:cNvSpPr txBox="1"/>
          <p:nvPr/>
        </p:nvSpPr>
        <p:spPr>
          <a:xfrm>
            <a:off x="2801758" y="5372304"/>
            <a:ext cx="7813206" cy="791370"/>
          </a:xfrm>
          <a:prstGeom prst="rect">
            <a:avLst/>
          </a:prstGeom>
          <a:noFill/>
        </p:spPr>
        <p:txBody>
          <a:bodyPr wrap="square">
            <a:spAutoFit/>
          </a:bodyPr>
          <a:lstStyle/>
          <a:p>
            <a:pPr>
              <a:lnSpc>
                <a:spcPct val="150000"/>
              </a:lnSpc>
            </a:pPr>
            <a:r>
              <a:rPr lang="en-IN" sz="1600" dirty="0">
                <a:latin typeface="Abadi" panose="020B0604020104020204" pitchFamily="34" charset="0"/>
              </a:rPr>
              <a:t>Represents the </a:t>
            </a:r>
            <a:r>
              <a:rPr lang="en-IN" sz="1600" b="1" dirty="0">
                <a:latin typeface="Abadi" panose="020B0604020104020204" pitchFamily="34" charset="0"/>
              </a:rPr>
              <a:t>difference between total credit and total debit amounts</a:t>
            </a:r>
            <a:r>
              <a:rPr lang="en-IN" sz="1600" dirty="0">
                <a:latin typeface="Abadi" panose="020B0604020104020204" pitchFamily="34" charset="0"/>
              </a:rPr>
              <a:t>. It helps determine the overall net flow of money.</a:t>
            </a:r>
          </a:p>
        </p:txBody>
      </p:sp>
      <p:pic>
        <p:nvPicPr>
          <p:cNvPr id="14" name="Picture 13">
            <a:extLst>
              <a:ext uri="{FF2B5EF4-FFF2-40B4-BE49-F238E27FC236}">
                <a16:creationId xmlns:a16="http://schemas.microsoft.com/office/drawing/2014/main" id="{AFD825B7-B755-CA9A-809C-03C5BAFEB666}"/>
              </a:ext>
            </a:extLst>
          </p:cNvPr>
          <p:cNvPicPr>
            <a:picLocks noChangeAspect="1"/>
          </p:cNvPicPr>
          <p:nvPr/>
        </p:nvPicPr>
        <p:blipFill>
          <a:blip r:embed="rId3"/>
          <a:stretch>
            <a:fillRect/>
          </a:stretch>
        </p:blipFill>
        <p:spPr>
          <a:xfrm>
            <a:off x="472068" y="1163497"/>
            <a:ext cx="2264285" cy="1500430"/>
          </a:xfrm>
          <a:prstGeom prst="rect">
            <a:avLst/>
          </a:prstGeom>
        </p:spPr>
      </p:pic>
      <p:pic>
        <p:nvPicPr>
          <p:cNvPr id="16" name="Picture 15">
            <a:extLst>
              <a:ext uri="{FF2B5EF4-FFF2-40B4-BE49-F238E27FC236}">
                <a16:creationId xmlns:a16="http://schemas.microsoft.com/office/drawing/2014/main" id="{69364CE6-AECF-03CC-318A-EC5F9D243E3A}"/>
              </a:ext>
            </a:extLst>
          </p:cNvPr>
          <p:cNvPicPr>
            <a:picLocks noChangeAspect="1"/>
          </p:cNvPicPr>
          <p:nvPr/>
        </p:nvPicPr>
        <p:blipFill>
          <a:blip r:embed="rId4"/>
          <a:stretch>
            <a:fillRect/>
          </a:stretch>
        </p:blipFill>
        <p:spPr>
          <a:xfrm>
            <a:off x="472068" y="3083139"/>
            <a:ext cx="2264285" cy="1578896"/>
          </a:xfrm>
          <a:prstGeom prst="rect">
            <a:avLst/>
          </a:prstGeom>
        </p:spPr>
      </p:pic>
      <p:pic>
        <p:nvPicPr>
          <p:cNvPr id="18" name="Picture 17">
            <a:extLst>
              <a:ext uri="{FF2B5EF4-FFF2-40B4-BE49-F238E27FC236}">
                <a16:creationId xmlns:a16="http://schemas.microsoft.com/office/drawing/2014/main" id="{71B6C472-F6AD-5665-9A9A-1B3EF6C2AC45}"/>
              </a:ext>
            </a:extLst>
          </p:cNvPr>
          <p:cNvPicPr>
            <a:picLocks noChangeAspect="1"/>
          </p:cNvPicPr>
          <p:nvPr/>
        </p:nvPicPr>
        <p:blipFill>
          <a:blip r:embed="rId5"/>
          <a:stretch>
            <a:fillRect/>
          </a:stretch>
        </p:blipFill>
        <p:spPr>
          <a:xfrm>
            <a:off x="529517" y="4956346"/>
            <a:ext cx="2272241" cy="1534311"/>
          </a:xfrm>
          <a:prstGeom prst="rect">
            <a:avLst/>
          </a:prstGeom>
        </p:spPr>
      </p:pic>
    </p:spTree>
    <p:extLst>
      <p:ext uri="{BB962C8B-B14F-4D97-AF65-F5344CB8AC3E}">
        <p14:creationId xmlns:p14="http://schemas.microsoft.com/office/powerpoint/2010/main" val="41977648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60F025-7F2F-AAF3-D3B8-34D76CBA29F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94B6D7E-1820-DF76-2BDE-AC59DC0D4178}"/>
              </a:ext>
            </a:extLst>
          </p:cNvPr>
          <p:cNvSpPr/>
          <p:nvPr/>
        </p:nvSpPr>
        <p:spPr>
          <a:xfrm>
            <a:off x="1097881" y="683403"/>
            <a:ext cx="9996237" cy="532408"/>
          </a:xfrm>
          <a:prstGeom prst="rect">
            <a:avLst/>
          </a:prstGeom>
          <a:noFill/>
          <a:ln/>
        </p:spPr>
        <p:txBody>
          <a:bodyPr wrap="none" lIns="0" tIns="0" rIns="0" bIns="0" rtlCol="0" anchor="t"/>
          <a:lstStyle/>
          <a:p>
            <a:pPr algn="ctr">
              <a:lnSpc>
                <a:spcPct val="104000"/>
              </a:lnSpc>
            </a:pPr>
            <a:endParaRPr lang="en-US" sz="3200" b="1" dirty="0">
              <a:latin typeface="Abadi" panose="020B0604020104020204" pitchFamily="34" charset="0"/>
            </a:endParaRPr>
          </a:p>
        </p:txBody>
      </p:sp>
      <p:sp>
        <p:nvSpPr>
          <p:cNvPr id="4" name="Text 1">
            <a:extLst>
              <a:ext uri="{FF2B5EF4-FFF2-40B4-BE49-F238E27FC236}">
                <a16:creationId xmlns:a16="http://schemas.microsoft.com/office/drawing/2014/main" id="{B7AF1538-4663-D90C-08C9-3F6951A7EE38}"/>
              </a:ext>
            </a:extLst>
          </p:cNvPr>
          <p:cNvSpPr/>
          <p:nvPr/>
        </p:nvSpPr>
        <p:spPr>
          <a:xfrm>
            <a:off x="529517" y="6187579"/>
            <a:ext cx="2245066" cy="176808"/>
          </a:xfrm>
          <a:prstGeom prst="rect">
            <a:avLst/>
          </a:prstGeom>
          <a:noFill/>
          <a:ln/>
        </p:spPr>
        <p:txBody>
          <a:bodyPr wrap="none" lIns="0" tIns="120795" rIns="76602" bIns="0" rtlCol="0" anchor="t"/>
          <a:lstStyle/>
          <a:p>
            <a:pPr marL="0" indent="0" algn="l">
              <a:lnSpc>
                <a:spcPct val="100000"/>
              </a:lnSpc>
              <a:buNone/>
            </a:pPr>
            <a:endParaRPr lang="en-US" sz="1150" dirty="0">
              <a:latin typeface="Abadi" panose="020B0604020104020204" pitchFamily="34" charset="0"/>
            </a:endParaRPr>
          </a:p>
        </p:txBody>
      </p:sp>
      <p:cxnSp>
        <p:nvCxnSpPr>
          <p:cNvPr id="55" name="Straight Connector 54">
            <a:extLst>
              <a:ext uri="{FF2B5EF4-FFF2-40B4-BE49-F238E27FC236}">
                <a16:creationId xmlns:a16="http://schemas.microsoft.com/office/drawing/2014/main" id="{286C6CEE-43DD-0C0A-3CC4-59291D8AF134}"/>
              </a:ext>
            </a:extLst>
          </p:cNvPr>
          <p:cNvCxnSpPr>
            <a:cxnSpLocks/>
          </p:cNvCxnSpPr>
          <p:nvPr/>
        </p:nvCxnSpPr>
        <p:spPr>
          <a:xfrm>
            <a:off x="358875" y="3011692"/>
            <a:ext cx="11474245" cy="20733"/>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EF04D2B3-BB74-4C0E-C197-A2A09E72A5F8}"/>
              </a:ext>
            </a:extLst>
          </p:cNvPr>
          <p:cNvCxnSpPr>
            <a:cxnSpLocks/>
          </p:cNvCxnSpPr>
          <p:nvPr/>
        </p:nvCxnSpPr>
        <p:spPr>
          <a:xfrm>
            <a:off x="358877" y="5193597"/>
            <a:ext cx="11474245" cy="20733"/>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A5F54FD5-520D-FA7A-C61D-B5813C3A3B47}"/>
              </a:ext>
            </a:extLst>
          </p:cNvPr>
          <p:cNvSpPr txBox="1"/>
          <p:nvPr/>
        </p:nvSpPr>
        <p:spPr>
          <a:xfrm>
            <a:off x="2774582" y="1818122"/>
            <a:ext cx="7801175" cy="791370"/>
          </a:xfrm>
          <a:prstGeom prst="rect">
            <a:avLst/>
          </a:prstGeom>
          <a:noFill/>
        </p:spPr>
        <p:txBody>
          <a:bodyPr wrap="square">
            <a:spAutoFit/>
          </a:bodyPr>
          <a:lstStyle/>
          <a:p>
            <a:pPr>
              <a:lnSpc>
                <a:spcPct val="150000"/>
              </a:lnSpc>
            </a:pPr>
            <a:r>
              <a:rPr lang="en-IN" sz="1600" dirty="0">
                <a:latin typeface="Abadi" panose="020B0604020104020204" pitchFamily="34" charset="0"/>
              </a:rPr>
              <a:t>Represents the </a:t>
            </a:r>
            <a:r>
              <a:rPr lang="en-IN" sz="1600" b="1" dirty="0">
                <a:latin typeface="Abadi" panose="020B0604020104020204" pitchFamily="34" charset="0"/>
              </a:rPr>
              <a:t>relationship between total credit and debit transactions</a:t>
            </a:r>
            <a:r>
              <a:rPr lang="en-IN" sz="1600" dirty="0">
                <a:latin typeface="Abadi" panose="020B0604020104020204" pitchFamily="34" charset="0"/>
              </a:rPr>
              <a:t>. It helps evaluate the balance between money received and money spent.</a:t>
            </a:r>
          </a:p>
        </p:txBody>
      </p:sp>
      <p:sp>
        <p:nvSpPr>
          <p:cNvPr id="12" name="TextBox 11">
            <a:extLst>
              <a:ext uri="{FF2B5EF4-FFF2-40B4-BE49-F238E27FC236}">
                <a16:creationId xmlns:a16="http://schemas.microsoft.com/office/drawing/2014/main" id="{5146A95C-20C1-F857-4BD6-FA2AB49082A5}"/>
              </a:ext>
            </a:extLst>
          </p:cNvPr>
          <p:cNvSpPr txBox="1"/>
          <p:nvPr/>
        </p:nvSpPr>
        <p:spPr>
          <a:xfrm>
            <a:off x="2774582" y="3824663"/>
            <a:ext cx="7801174" cy="791370"/>
          </a:xfrm>
          <a:prstGeom prst="rect">
            <a:avLst/>
          </a:prstGeom>
          <a:noFill/>
        </p:spPr>
        <p:txBody>
          <a:bodyPr wrap="square">
            <a:spAutoFit/>
          </a:bodyPr>
          <a:lstStyle/>
          <a:p>
            <a:pPr>
              <a:lnSpc>
                <a:spcPct val="150000"/>
              </a:lnSpc>
            </a:pPr>
            <a:r>
              <a:rPr lang="en-IN" sz="1600" dirty="0">
                <a:latin typeface="Abadi" panose="020B0604020104020204" pitchFamily="34" charset="0"/>
              </a:rPr>
              <a:t>Represents the </a:t>
            </a:r>
            <a:r>
              <a:rPr lang="en-IN" sz="1600" b="1" dirty="0">
                <a:latin typeface="Abadi" panose="020B0604020104020204" pitchFamily="34" charset="0"/>
              </a:rPr>
              <a:t>total number of transactions</a:t>
            </a:r>
            <a:r>
              <a:rPr lang="en-IN" sz="1600" dirty="0">
                <a:latin typeface="Abadi" panose="020B0604020104020204" pitchFamily="34" charset="0"/>
              </a:rPr>
              <a:t> recorded in the dataset. It helps measure the overall transaction volume and understand the level of banking activity.</a:t>
            </a:r>
          </a:p>
        </p:txBody>
      </p:sp>
      <p:pic>
        <p:nvPicPr>
          <p:cNvPr id="14" name="Picture 13">
            <a:extLst>
              <a:ext uri="{FF2B5EF4-FFF2-40B4-BE49-F238E27FC236}">
                <a16:creationId xmlns:a16="http://schemas.microsoft.com/office/drawing/2014/main" id="{3B0B308B-0CF2-1DF0-536E-AEFF20E992F2}"/>
              </a:ext>
            </a:extLst>
          </p:cNvPr>
          <p:cNvPicPr>
            <a:picLocks noChangeAspect="1"/>
          </p:cNvPicPr>
          <p:nvPr/>
        </p:nvPicPr>
        <p:blipFill>
          <a:blip r:embed="rId3"/>
          <a:stretch>
            <a:fillRect/>
          </a:stretch>
        </p:blipFill>
        <p:spPr>
          <a:xfrm>
            <a:off x="529517" y="1305353"/>
            <a:ext cx="2059470" cy="1466179"/>
          </a:xfrm>
          <a:prstGeom prst="rect">
            <a:avLst/>
          </a:prstGeom>
        </p:spPr>
      </p:pic>
      <p:pic>
        <p:nvPicPr>
          <p:cNvPr id="18" name="Picture 17">
            <a:extLst>
              <a:ext uri="{FF2B5EF4-FFF2-40B4-BE49-F238E27FC236}">
                <a16:creationId xmlns:a16="http://schemas.microsoft.com/office/drawing/2014/main" id="{F6550E43-E86D-6C70-A266-DCE189CBA41F}"/>
              </a:ext>
            </a:extLst>
          </p:cNvPr>
          <p:cNvPicPr>
            <a:picLocks noChangeAspect="1"/>
          </p:cNvPicPr>
          <p:nvPr/>
        </p:nvPicPr>
        <p:blipFill>
          <a:blip r:embed="rId4"/>
          <a:stretch>
            <a:fillRect/>
          </a:stretch>
        </p:blipFill>
        <p:spPr>
          <a:xfrm>
            <a:off x="529517" y="3353147"/>
            <a:ext cx="2059470" cy="1413704"/>
          </a:xfrm>
          <a:prstGeom prst="rect">
            <a:avLst/>
          </a:prstGeom>
        </p:spPr>
      </p:pic>
    </p:spTree>
    <p:extLst>
      <p:ext uri="{BB962C8B-B14F-4D97-AF65-F5344CB8AC3E}">
        <p14:creationId xmlns:p14="http://schemas.microsoft.com/office/powerpoint/2010/main" val="15341306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65AADA-EF7F-8122-4F5B-4195E5F4732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6153CE95-2534-9185-628B-E89FE1D57385}"/>
              </a:ext>
            </a:extLst>
          </p:cNvPr>
          <p:cNvSpPr/>
          <p:nvPr/>
        </p:nvSpPr>
        <p:spPr>
          <a:xfrm>
            <a:off x="930241" y="394863"/>
            <a:ext cx="9996237" cy="423284"/>
          </a:xfrm>
          <a:prstGeom prst="rect">
            <a:avLst/>
          </a:prstGeom>
          <a:noFill/>
          <a:ln/>
        </p:spPr>
        <p:txBody>
          <a:bodyPr wrap="none" lIns="0" tIns="0" rIns="0" bIns="0" rtlCol="0" anchor="t"/>
          <a:lstStyle/>
          <a:p>
            <a:pPr algn="ctr">
              <a:lnSpc>
                <a:spcPct val="104000"/>
              </a:lnSpc>
            </a:pPr>
            <a:r>
              <a:rPr lang="en-IN" sz="2800" b="1" dirty="0">
                <a:latin typeface="Abadi" panose="020B0604020104020204" pitchFamily="34" charset="0"/>
              </a:rPr>
              <a:t>EXCEL DASHBOARDS</a:t>
            </a:r>
            <a:endParaRPr lang="en-US" sz="2800" b="1" dirty="0">
              <a:latin typeface="Abadi" panose="020B0604020104020204" pitchFamily="34" charset="0"/>
            </a:endParaRPr>
          </a:p>
        </p:txBody>
      </p:sp>
      <p:sp>
        <p:nvSpPr>
          <p:cNvPr id="4" name="Text 1">
            <a:extLst>
              <a:ext uri="{FF2B5EF4-FFF2-40B4-BE49-F238E27FC236}">
                <a16:creationId xmlns:a16="http://schemas.microsoft.com/office/drawing/2014/main" id="{B00E405E-09E4-862F-3026-9ECCEC05EE45}"/>
              </a:ext>
            </a:extLst>
          </p:cNvPr>
          <p:cNvSpPr/>
          <p:nvPr/>
        </p:nvSpPr>
        <p:spPr>
          <a:xfrm>
            <a:off x="529517" y="6187579"/>
            <a:ext cx="2245066" cy="176808"/>
          </a:xfrm>
          <a:prstGeom prst="rect">
            <a:avLst/>
          </a:prstGeom>
          <a:noFill/>
          <a:ln/>
        </p:spPr>
        <p:txBody>
          <a:bodyPr wrap="none" lIns="0" tIns="120795" rIns="76602" bIns="0" rtlCol="0" anchor="t"/>
          <a:lstStyle/>
          <a:p>
            <a:pPr marL="0" indent="0" algn="l">
              <a:lnSpc>
                <a:spcPct val="100000"/>
              </a:lnSpc>
              <a:buNone/>
            </a:pPr>
            <a:endParaRPr lang="en-US" sz="1150" dirty="0"/>
          </a:p>
        </p:txBody>
      </p:sp>
      <p:pic>
        <p:nvPicPr>
          <p:cNvPr id="25" name="Picture 24">
            <a:extLst>
              <a:ext uri="{FF2B5EF4-FFF2-40B4-BE49-F238E27FC236}">
                <a16:creationId xmlns:a16="http://schemas.microsoft.com/office/drawing/2014/main" id="{09FB3F23-85CD-DD9C-1E74-D9BBA57DAA0D}"/>
              </a:ext>
            </a:extLst>
          </p:cNvPr>
          <p:cNvPicPr>
            <a:picLocks noChangeAspect="1"/>
          </p:cNvPicPr>
          <p:nvPr/>
        </p:nvPicPr>
        <p:blipFill>
          <a:blip r:embed="rId3"/>
          <a:stretch>
            <a:fillRect/>
          </a:stretch>
        </p:blipFill>
        <p:spPr>
          <a:xfrm>
            <a:off x="716692" y="1046778"/>
            <a:ext cx="5110356" cy="3798444"/>
          </a:xfrm>
          <a:prstGeom prst="rect">
            <a:avLst/>
          </a:prstGeom>
          <a:ln w="9525">
            <a:solidFill>
              <a:srgbClr val="002060"/>
            </a:solidFill>
          </a:ln>
        </p:spPr>
      </p:pic>
      <p:pic>
        <p:nvPicPr>
          <p:cNvPr id="27" name="Picture 26">
            <a:extLst>
              <a:ext uri="{FF2B5EF4-FFF2-40B4-BE49-F238E27FC236}">
                <a16:creationId xmlns:a16="http://schemas.microsoft.com/office/drawing/2014/main" id="{F3A76268-2A53-A2C4-795E-2A24F11261E6}"/>
              </a:ext>
            </a:extLst>
          </p:cNvPr>
          <p:cNvPicPr>
            <a:picLocks noChangeAspect="1"/>
          </p:cNvPicPr>
          <p:nvPr/>
        </p:nvPicPr>
        <p:blipFill>
          <a:blip r:embed="rId4"/>
          <a:stretch>
            <a:fillRect/>
          </a:stretch>
        </p:blipFill>
        <p:spPr>
          <a:xfrm>
            <a:off x="6364954" y="1046778"/>
            <a:ext cx="4999067" cy="3805445"/>
          </a:xfrm>
          <a:prstGeom prst="rect">
            <a:avLst/>
          </a:prstGeom>
          <a:ln w="9525">
            <a:solidFill>
              <a:srgbClr val="002060"/>
            </a:solidFill>
          </a:ln>
        </p:spPr>
      </p:pic>
      <p:sp>
        <p:nvSpPr>
          <p:cNvPr id="31" name="Rectangle: Rounded Corners 30">
            <a:extLst>
              <a:ext uri="{FF2B5EF4-FFF2-40B4-BE49-F238E27FC236}">
                <a16:creationId xmlns:a16="http://schemas.microsoft.com/office/drawing/2014/main" id="{51688C4B-EA6C-2A94-4FE9-37AEEE6C4581}"/>
              </a:ext>
            </a:extLst>
          </p:cNvPr>
          <p:cNvSpPr/>
          <p:nvPr/>
        </p:nvSpPr>
        <p:spPr>
          <a:xfrm>
            <a:off x="716692" y="5217522"/>
            <a:ext cx="10945792" cy="1058461"/>
          </a:xfrm>
          <a:prstGeom prst="roundRect">
            <a:avLst/>
          </a:prstGeom>
          <a:solidFill>
            <a:srgbClr val="DEEEFF"/>
          </a:solidFill>
          <a:ln>
            <a:noFill/>
          </a:ln>
          <a:effectLst>
            <a:outerShdw blurRad="63500" sx="102000" sy="102000" algn="ctr" rotWithShape="0">
              <a:srgbClr val="00206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r>
              <a:rPr lang="en-IN" sz="1400" dirty="0">
                <a:solidFill>
                  <a:schemeClr val="tx1"/>
                </a:solidFill>
                <a:latin typeface="Abadi" panose="020B0604020104020204" pitchFamily="34" charset="0"/>
              </a:rPr>
              <a:t>Both dashboards were created in </a:t>
            </a:r>
            <a:r>
              <a:rPr lang="en-IN" sz="1400" b="1" dirty="0">
                <a:solidFill>
                  <a:schemeClr val="tx1"/>
                </a:solidFill>
                <a:latin typeface="Abadi" panose="020B0604020104020204" pitchFamily="34" charset="0"/>
              </a:rPr>
              <a:t>Microsoft Excel</a:t>
            </a:r>
            <a:r>
              <a:rPr lang="en-IN" sz="1400" dirty="0">
                <a:solidFill>
                  <a:schemeClr val="tx1"/>
                </a:solidFill>
                <a:latin typeface="Abadi" panose="020B0604020104020204" pitchFamily="34" charset="0"/>
              </a:rPr>
              <a:t> using Pivot Tables, Pivot Charts, formulas, and slicers. Excel was useful for cleaning, organizing, and summarizing raw banking data. Its </a:t>
            </a:r>
            <a:r>
              <a:rPr lang="en-IN" sz="1400" b="1" dirty="0">
                <a:solidFill>
                  <a:schemeClr val="tx1"/>
                </a:solidFill>
                <a:latin typeface="Abadi" panose="020B0604020104020204" pitchFamily="34" charset="0"/>
              </a:rPr>
              <a:t>spreadsheet-based structure, formulas, Pivot Tables, and easy data manipulation</a:t>
            </a:r>
            <a:r>
              <a:rPr lang="en-IN" sz="1400" dirty="0">
                <a:solidFill>
                  <a:schemeClr val="tx1"/>
                </a:solidFill>
                <a:latin typeface="Abadi" panose="020B0604020104020204" pitchFamily="34" charset="0"/>
              </a:rPr>
              <a:t> made it useful for quick analysis and dashboard creation.</a:t>
            </a:r>
          </a:p>
        </p:txBody>
      </p:sp>
    </p:spTree>
    <p:extLst>
      <p:ext uri="{BB962C8B-B14F-4D97-AF65-F5344CB8AC3E}">
        <p14:creationId xmlns:p14="http://schemas.microsoft.com/office/powerpoint/2010/main" val="42340379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9F6655-F7AE-6995-3469-A744605B47D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58DBFE5-9DEF-77A1-24D3-A1BA60148017}"/>
              </a:ext>
            </a:extLst>
          </p:cNvPr>
          <p:cNvSpPr/>
          <p:nvPr/>
        </p:nvSpPr>
        <p:spPr>
          <a:xfrm>
            <a:off x="899761" y="330929"/>
            <a:ext cx="9996237" cy="288832"/>
          </a:xfrm>
          <a:prstGeom prst="rect">
            <a:avLst/>
          </a:prstGeom>
          <a:noFill/>
          <a:ln/>
        </p:spPr>
        <p:txBody>
          <a:bodyPr wrap="none" lIns="0" tIns="0" rIns="0" bIns="0" rtlCol="0" anchor="t"/>
          <a:lstStyle/>
          <a:p>
            <a:pPr algn="ctr">
              <a:lnSpc>
                <a:spcPct val="104000"/>
              </a:lnSpc>
            </a:pPr>
            <a:r>
              <a:rPr lang="en-IN" sz="2800" b="1" dirty="0">
                <a:latin typeface="Abadi" panose="020B0604020104020204" pitchFamily="34" charset="0"/>
              </a:rPr>
              <a:t>POWER BI DASHBOARDS</a:t>
            </a:r>
            <a:endParaRPr lang="en-US" sz="2800" b="1" dirty="0">
              <a:latin typeface="Abadi" panose="020B0604020104020204" pitchFamily="34" charset="0"/>
            </a:endParaRPr>
          </a:p>
        </p:txBody>
      </p:sp>
      <p:sp>
        <p:nvSpPr>
          <p:cNvPr id="4" name="Text 1">
            <a:extLst>
              <a:ext uri="{FF2B5EF4-FFF2-40B4-BE49-F238E27FC236}">
                <a16:creationId xmlns:a16="http://schemas.microsoft.com/office/drawing/2014/main" id="{2EC8C761-9450-F656-15A2-CF3FBA764826}"/>
              </a:ext>
            </a:extLst>
          </p:cNvPr>
          <p:cNvSpPr/>
          <p:nvPr/>
        </p:nvSpPr>
        <p:spPr>
          <a:xfrm>
            <a:off x="529517" y="6187579"/>
            <a:ext cx="2245066" cy="176808"/>
          </a:xfrm>
          <a:prstGeom prst="rect">
            <a:avLst/>
          </a:prstGeom>
          <a:noFill/>
          <a:ln/>
        </p:spPr>
        <p:txBody>
          <a:bodyPr wrap="none" lIns="0" tIns="120795" rIns="76602" bIns="0" rtlCol="0" anchor="t"/>
          <a:lstStyle/>
          <a:p>
            <a:pPr marL="0" indent="0" algn="l">
              <a:lnSpc>
                <a:spcPct val="100000"/>
              </a:lnSpc>
              <a:buNone/>
            </a:pPr>
            <a:endParaRPr lang="en-US" sz="1150" dirty="0"/>
          </a:p>
        </p:txBody>
      </p:sp>
      <p:pic>
        <p:nvPicPr>
          <p:cNvPr id="9" name="Picture 8">
            <a:extLst>
              <a:ext uri="{FF2B5EF4-FFF2-40B4-BE49-F238E27FC236}">
                <a16:creationId xmlns:a16="http://schemas.microsoft.com/office/drawing/2014/main" id="{CC632A52-7EC5-3258-ACC7-63AEF823E308}"/>
              </a:ext>
            </a:extLst>
          </p:cNvPr>
          <p:cNvPicPr>
            <a:picLocks noChangeAspect="1"/>
          </p:cNvPicPr>
          <p:nvPr/>
        </p:nvPicPr>
        <p:blipFill>
          <a:blip r:embed="rId3"/>
          <a:stretch>
            <a:fillRect/>
          </a:stretch>
        </p:blipFill>
        <p:spPr>
          <a:xfrm>
            <a:off x="529517" y="1009843"/>
            <a:ext cx="5520899" cy="3540228"/>
          </a:xfrm>
          <a:prstGeom prst="rect">
            <a:avLst/>
          </a:prstGeom>
          <a:ln w="9525">
            <a:solidFill>
              <a:srgbClr val="002060"/>
            </a:solidFill>
          </a:ln>
        </p:spPr>
      </p:pic>
      <p:pic>
        <p:nvPicPr>
          <p:cNvPr id="11" name="Picture 10">
            <a:extLst>
              <a:ext uri="{FF2B5EF4-FFF2-40B4-BE49-F238E27FC236}">
                <a16:creationId xmlns:a16="http://schemas.microsoft.com/office/drawing/2014/main" id="{B1C3437D-2531-EA61-9FF1-96DFC894570A}"/>
              </a:ext>
            </a:extLst>
          </p:cNvPr>
          <p:cNvPicPr>
            <a:picLocks noChangeAspect="1"/>
          </p:cNvPicPr>
          <p:nvPr/>
        </p:nvPicPr>
        <p:blipFill>
          <a:blip r:embed="rId4"/>
          <a:stretch>
            <a:fillRect/>
          </a:stretch>
        </p:blipFill>
        <p:spPr>
          <a:xfrm>
            <a:off x="6215450" y="976716"/>
            <a:ext cx="5447034" cy="3521849"/>
          </a:xfrm>
          <a:prstGeom prst="rect">
            <a:avLst/>
          </a:prstGeom>
          <a:ln w="9525">
            <a:solidFill>
              <a:srgbClr val="002060"/>
            </a:solidFill>
          </a:ln>
        </p:spPr>
      </p:pic>
      <p:sp>
        <p:nvSpPr>
          <p:cNvPr id="13" name="Rectangle: Rounded Corners 12">
            <a:extLst>
              <a:ext uri="{FF2B5EF4-FFF2-40B4-BE49-F238E27FC236}">
                <a16:creationId xmlns:a16="http://schemas.microsoft.com/office/drawing/2014/main" id="{EFCF899C-D65B-BF83-008D-C17E0FB6D387}"/>
              </a:ext>
            </a:extLst>
          </p:cNvPr>
          <p:cNvSpPr/>
          <p:nvPr/>
        </p:nvSpPr>
        <p:spPr>
          <a:xfrm>
            <a:off x="623104" y="4855521"/>
            <a:ext cx="10945792" cy="1420462"/>
          </a:xfrm>
          <a:prstGeom prst="roundRect">
            <a:avLst/>
          </a:prstGeom>
          <a:solidFill>
            <a:srgbClr val="DEEEFF"/>
          </a:solidFill>
          <a:ln>
            <a:noFill/>
          </a:ln>
          <a:effectLst>
            <a:outerShdw blurRad="63500" sx="102000" sy="102000" algn="ctr" rotWithShape="0">
              <a:srgbClr val="00206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lnSpc>
                <a:spcPct val="150000"/>
              </a:lnSpc>
            </a:pPr>
            <a:r>
              <a:rPr lang="en-IN" sz="1400" dirty="0">
                <a:solidFill>
                  <a:schemeClr val="tx1"/>
                </a:solidFill>
                <a:latin typeface="Abadi" panose="020B0604020104020204" pitchFamily="34" charset="0"/>
              </a:rPr>
              <a:t>Both dashboards were developed in </a:t>
            </a:r>
            <a:r>
              <a:rPr lang="en-IN" sz="1400" b="1" dirty="0">
                <a:solidFill>
                  <a:schemeClr val="tx1"/>
                </a:solidFill>
                <a:latin typeface="Abadi" panose="020B0604020104020204" pitchFamily="34" charset="0"/>
              </a:rPr>
              <a:t>Power BI </a:t>
            </a:r>
            <a:r>
              <a:rPr lang="en-IN" sz="1400" dirty="0">
                <a:solidFill>
                  <a:schemeClr val="tx1"/>
                </a:solidFill>
                <a:latin typeface="Abadi" panose="020B0604020104020204" pitchFamily="34" charset="0"/>
              </a:rPr>
              <a:t>using DAX measures, KPI cards, interactive visuals, and filters. Its </a:t>
            </a:r>
            <a:r>
              <a:rPr lang="en-IN" sz="1400" b="1" dirty="0">
                <a:solidFill>
                  <a:schemeClr val="tx1"/>
                </a:solidFill>
                <a:latin typeface="Abadi" panose="020B0604020104020204" pitchFamily="34" charset="0"/>
              </a:rPr>
              <a:t>data modeling, DAX calculations, cross-filtering, and interactive visuals </a:t>
            </a:r>
            <a:r>
              <a:rPr lang="en-IN" sz="1400" dirty="0">
                <a:solidFill>
                  <a:schemeClr val="tx1"/>
                </a:solidFill>
                <a:latin typeface="Abadi" panose="020B0604020104020204" pitchFamily="34" charset="0"/>
              </a:rPr>
              <a:t>make the dashboard dynamic, allowing multiple visuals to respond automatically to user selections.</a:t>
            </a:r>
          </a:p>
        </p:txBody>
      </p:sp>
    </p:spTree>
    <p:extLst>
      <p:ext uri="{BB962C8B-B14F-4D97-AF65-F5344CB8AC3E}">
        <p14:creationId xmlns:p14="http://schemas.microsoft.com/office/powerpoint/2010/main" val="17899939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A7C205-063D-3C2D-2756-D6D795700CF1}"/>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D8BDCE4-A112-3950-CE91-B8A10052714B}"/>
              </a:ext>
            </a:extLst>
          </p:cNvPr>
          <p:cNvSpPr/>
          <p:nvPr/>
        </p:nvSpPr>
        <p:spPr>
          <a:xfrm>
            <a:off x="899761" y="328024"/>
            <a:ext cx="9996237" cy="301896"/>
          </a:xfrm>
          <a:prstGeom prst="rect">
            <a:avLst/>
          </a:prstGeom>
          <a:noFill/>
          <a:ln/>
        </p:spPr>
        <p:txBody>
          <a:bodyPr wrap="none" lIns="0" tIns="0" rIns="0" bIns="0" rtlCol="0" anchor="t"/>
          <a:lstStyle/>
          <a:p>
            <a:pPr algn="ctr">
              <a:lnSpc>
                <a:spcPct val="104000"/>
              </a:lnSpc>
            </a:pPr>
            <a:r>
              <a:rPr lang="en-IN" sz="2800" b="1" dirty="0">
                <a:latin typeface="Abadi" panose="020B0604020104020204" pitchFamily="34" charset="0"/>
              </a:rPr>
              <a:t>TABLEAU DASHBOARDS</a:t>
            </a:r>
            <a:endParaRPr lang="en-US" sz="2800" b="1" dirty="0">
              <a:latin typeface="Abadi" panose="020B0604020104020204" pitchFamily="34" charset="0"/>
            </a:endParaRPr>
          </a:p>
        </p:txBody>
      </p:sp>
      <p:sp>
        <p:nvSpPr>
          <p:cNvPr id="4" name="Text 1">
            <a:extLst>
              <a:ext uri="{FF2B5EF4-FFF2-40B4-BE49-F238E27FC236}">
                <a16:creationId xmlns:a16="http://schemas.microsoft.com/office/drawing/2014/main" id="{23964EE6-EB82-F567-6753-383250D728AB}"/>
              </a:ext>
            </a:extLst>
          </p:cNvPr>
          <p:cNvSpPr/>
          <p:nvPr/>
        </p:nvSpPr>
        <p:spPr>
          <a:xfrm>
            <a:off x="529517" y="6187579"/>
            <a:ext cx="2245066" cy="176808"/>
          </a:xfrm>
          <a:prstGeom prst="rect">
            <a:avLst/>
          </a:prstGeom>
          <a:noFill/>
          <a:ln/>
        </p:spPr>
        <p:txBody>
          <a:bodyPr wrap="none" lIns="0" tIns="120795" rIns="76602" bIns="0" rtlCol="0" anchor="t"/>
          <a:lstStyle/>
          <a:p>
            <a:pPr marL="0" indent="0" algn="l">
              <a:lnSpc>
                <a:spcPct val="100000"/>
              </a:lnSpc>
              <a:buNone/>
            </a:pPr>
            <a:endParaRPr lang="en-US" sz="1150" dirty="0"/>
          </a:p>
        </p:txBody>
      </p:sp>
      <p:pic>
        <p:nvPicPr>
          <p:cNvPr id="7" name="Picture 6">
            <a:extLst>
              <a:ext uri="{FF2B5EF4-FFF2-40B4-BE49-F238E27FC236}">
                <a16:creationId xmlns:a16="http://schemas.microsoft.com/office/drawing/2014/main" id="{C282A454-99F5-6995-D8FF-172FE3CA620A}"/>
              </a:ext>
            </a:extLst>
          </p:cNvPr>
          <p:cNvPicPr>
            <a:picLocks noChangeAspect="1"/>
          </p:cNvPicPr>
          <p:nvPr/>
        </p:nvPicPr>
        <p:blipFill>
          <a:blip r:embed="rId3"/>
          <a:stretch>
            <a:fillRect/>
          </a:stretch>
        </p:blipFill>
        <p:spPr>
          <a:xfrm>
            <a:off x="514060" y="896518"/>
            <a:ext cx="5142284" cy="2669052"/>
          </a:xfrm>
          <a:prstGeom prst="rect">
            <a:avLst/>
          </a:prstGeom>
          <a:ln>
            <a:solidFill>
              <a:srgbClr val="002060"/>
            </a:solidFill>
          </a:ln>
        </p:spPr>
      </p:pic>
      <p:pic>
        <p:nvPicPr>
          <p:cNvPr id="9" name="Picture 8">
            <a:extLst>
              <a:ext uri="{FF2B5EF4-FFF2-40B4-BE49-F238E27FC236}">
                <a16:creationId xmlns:a16="http://schemas.microsoft.com/office/drawing/2014/main" id="{73D79F59-B55E-4E03-7875-3F1CA805EB0F}"/>
              </a:ext>
            </a:extLst>
          </p:cNvPr>
          <p:cNvPicPr>
            <a:picLocks noChangeAspect="1"/>
          </p:cNvPicPr>
          <p:nvPr/>
        </p:nvPicPr>
        <p:blipFill>
          <a:blip r:embed="rId4"/>
          <a:stretch>
            <a:fillRect/>
          </a:stretch>
        </p:blipFill>
        <p:spPr>
          <a:xfrm>
            <a:off x="529517" y="3860924"/>
            <a:ext cx="5126827" cy="2669052"/>
          </a:xfrm>
          <a:prstGeom prst="rect">
            <a:avLst/>
          </a:prstGeom>
          <a:ln>
            <a:solidFill>
              <a:srgbClr val="002060"/>
            </a:solidFill>
          </a:ln>
        </p:spPr>
      </p:pic>
      <p:sp>
        <p:nvSpPr>
          <p:cNvPr id="14" name="Rectangle: Rounded Corners 13">
            <a:extLst>
              <a:ext uri="{FF2B5EF4-FFF2-40B4-BE49-F238E27FC236}">
                <a16:creationId xmlns:a16="http://schemas.microsoft.com/office/drawing/2014/main" id="{F611B1AD-E15B-2C73-58CD-4342DFAEC92A}"/>
              </a:ext>
            </a:extLst>
          </p:cNvPr>
          <p:cNvSpPr/>
          <p:nvPr/>
        </p:nvSpPr>
        <p:spPr>
          <a:xfrm>
            <a:off x="5919538" y="2093496"/>
            <a:ext cx="5480482" cy="2959768"/>
          </a:xfrm>
          <a:prstGeom prst="roundRect">
            <a:avLst/>
          </a:prstGeom>
          <a:solidFill>
            <a:srgbClr val="DEEEFF"/>
          </a:solidFill>
          <a:ln>
            <a:noFill/>
          </a:ln>
          <a:effectLst>
            <a:outerShdw blurRad="63500" sx="102000" sy="102000" algn="ctr" rotWithShape="0">
              <a:srgbClr val="00206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lnSpc>
                <a:spcPct val="150000"/>
              </a:lnSpc>
            </a:pPr>
            <a:r>
              <a:rPr lang="en-IN" sz="1400" dirty="0">
                <a:solidFill>
                  <a:schemeClr val="tx1"/>
                </a:solidFill>
                <a:latin typeface="Abadi" panose="020B0604020104020204" pitchFamily="34" charset="0"/>
              </a:rPr>
              <a:t>Both dashboards were created in </a:t>
            </a:r>
            <a:r>
              <a:rPr lang="en-IN" sz="1400" b="1" dirty="0">
                <a:solidFill>
                  <a:schemeClr val="tx1"/>
                </a:solidFill>
                <a:latin typeface="Abadi" panose="020B0604020104020204" pitchFamily="34" charset="0"/>
              </a:rPr>
              <a:t>Tableau</a:t>
            </a:r>
            <a:r>
              <a:rPr lang="en-IN" sz="1400" dirty="0">
                <a:solidFill>
                  <a:schemeClr val="tx1"/>
                </a:solidFill>
                <a:latin typeface="Abadi" panose="020B0604020104020204" pitchFamily="34" charset="0"/>
              </a:rPr>
              <a:t> using calculated fields, worksheets, filters, and interactive visualizations. Its </a:t>
            </a:r>
            <a:r>
              <a:rPr lang="en-IN" sz="1400" b="1" dirty="0">
                <a:solidFill>
                  <a:schemeClr val="tx1"/>
                </a:solidFill>
                <a:latin typeface="Abadi" panose="020B0604020104020204" pitchFamily="34" charset="0"/>
              </a:rPr>
              <a:t>drag-and-drop visual analysis, individual worksheets, Marks card, calculated fields, and dashboard interactions</a:t>
            </a:r>
            <a:r>
              <a:rPr lang="en-IN" sz="1400" dirty="0">
                <a:solidFill>
                  <a:schemeClr val="tx1"/>
                </a:solidFill>
                <a:latin typeface="Abadi" panose="020B0604020104020204" pitchFamily="34" charset="0"/>
              </a:rPr>
              <a:t> make it useful for exploring patterns and presenting data clearly.</a:t>
            </a:r>
            <a:endParaRPr lang="en-IN" sz="1400" b="1" dirty="0">
              <a:solidFill>
                <a:schemeClr val="tx1"/>
              </a:solidFill>
              <a:latin typeface="Abadi" panose="020B0604020104020204" pitchFamily="34" charset="0"/>
            </a:endParaRPr>
          </a:p>
        </p:txBody>
      </p:sp>
    </p:spTree>
    <p:extLst>
      <p:ext uri="{BB962C8B-B14F-4D97-AF65-F5344CB8AC3E}">
        <p14:creationId xmlns:p14="http://schemas.microsoft.com/office/powerpoint/2010/main" val="3797436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BC2227-6E74-686C-DA51-FBCE072709A0}"/>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C2607E5-D2AF-1D84-5CAE-2C149A1055A7}"/>
              </a:ext>
            </a:extLst>
          </p:cNvPr>
          <p:cNvSpPr/>
          <p:nvPr/>
        </p:nvSpPr>
        <p:spPr>
          <a:xfrm>
            <a:off x="978458" y="648849"/>
            <a:ext cx="9996237" cy="532408"/>
          </a:xfrm>
          <a:prstGeom prst="rect">
            <a:avLst/>
          </a:prstGeom>
          <a:noFill/>
          <a:ln/>
        </p:spPr>
        <p:txBody>
          <a:bodyPr wrap="none" lIns="0" tIns="0" rIns="0" bIns="0" rtlCol="0" anchor="t"/>
          <a:lstStyle/>
          <a:p>
            <a:pPr algn="ctr">
              <a:lnSpc>
                <a:spcPct val="104000"/>
              </a:lnSpc>
            </a:pPr>
            <a:endParaRPr lang="en-US" sz="3200" b="1" dirty="0">
              <a:latin typeface="Abadi" panose="020B0604020104020204" pitchFamily="34" charset="0"/>
            </a:endParaRPr>
          </a:p>
        </p:txBody>
      </p:sp>
      <p:sp>
        <p:nvSpPr>
          <p:cNvPr id="4" name="Text 1">
            <a:extLst>
              <a:ext uri="{FF2B5EF4-FFF2-40B4-BE49-F238E27FC236}">
                <a16:creationId xmlns:a16="http://schemas.microsoft.com/office/drawing/2014/main" id="{F14749D6-5A10-0473-C477-AE93B8DD34F4}"/>
              </a:ext>
            </a:extLst>
          </p:cNvPr>
          <p:cNvSpPr/>
          <p:nvPr/>
        </p:nvSpPr>
        <p:spPr>
          <a:xfrm>
            <a:off x="529517" y="6187579"/>
            <a:ext cx="2245066" cy="176808"/>
          </a:xfrm>
          <a:prstGeom prst="rect">
            <a:avLst/>
          </a:prstGeom>
          <a:noFill/>
          <a:ln/>
        </p:spPr>
        <p:txBody>
          <a:bodyPr wrap="none" lIns="0" tIns="120795" rIns="76602" bIns="0" rtlCol="0" anchor="t"/>
          <a:lstStyle/>
          <a:p>
            <a:pPr marL="0" indent="0" algn="l">
              <a:lnSpc>
                <a:spcPct val="100000"/>
              </a:lnSpc>
              <a:buNone/>
            </a:pPr>
            <a:endParaRPr lang="en-US" sz="1150" dirty="0"/>
          </a:p>
        </p:txBody>
      </p:sp>
      <p:pic>
        <p:nvPicPr>
          <p:cNvPr id="6" name="Picture 5">
            <a:extLst>
              <a:ext uri="{FF2B5EF4-FFF2-40B4-BE49-F238E27FC236}">
                <a16:creationId xmlns:a16="http://schemas.microsoft.com/office/drawing/2014/main" id="{E804CEF6-09A8-F329-0936-9F1C605E84F0}"/>
              </a:ext>
            </a:extLst>
          </p:cNvPr>
          <p:cNvPicPr>
            <a:picLocks noChangeAspect="1"/>
          </p:cNvPicPr>
          <p:nvPr/>
        </p:nvPicPr>
        <p:blipFill>
          <a:blip r:embed="rId3"/>
          <a:stretch>
            <a:fillRect/>
          </a:stretch>
        </p:blipFill>
        <p:spPr>
          <a:xfrm>
            <a:off x="529517" y="1181257"/>
            <a:ext cx="7315225" cy="5329989"/>
          </a:xfrm>
          <a:prstGeom prst="rect">
            <a:avLst/>
          </a:prstGeom>
          <a:ln>
            <a:solidFill>
              <a:srgbClr val="002060"/>
            </a:solidFill>
          </a:ln>
        </p:spPr>
      </p:pic>
      <p:sp>
        <p:nvSpPr>
          <p:cNvPr id="8" name="Rectangle: Rounded Corners 7">
            <a:extLst>
              <a:ext uri="{FF2B5EF4-FFF2-40B4-BE49-F238E27FC236}">
                <a16:creationId xmlns:a16="http://schemas.microsoft.com/office/drawing/2014/main" id="{58596E96-7DCC-FF91-D5BF-7B6C3F92F54D}"/>
              </a:ext>
            </a:extLst>
          </p:cNvPr>
          <p:cNvSpPr/>
          <p:nvPr/>
        </p:nvSpPr>
        <p:spPr>
          <a:xfrm>
            <a:off x="8170606" y="1655689"/>
            <a:ext cx="3491877" cy="4057457"/>
          </a:xfrm>
          <a:prstGeom prst="roundRect">
            <a:avLst/>
          </a:prstGeom>
          <a:solidFill>
            <a:srgbClr val="DEEEFF"/>
          </a:solidFill>
          <a:ln>
            <a:noFill/>
          </a:ln>
          <a:effectLst>
            <a:outerShdw blurRad="63500" sx="102000" sy="102000" algn="ctr" rotWithShape="0">
              <a:srgbClr val="00206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just">
              <a:lnSpc>
                <a:spcPct val="150000"/>
              </a:lnSpc>
            </a:pPr>
            <a:r>
              <a:rPr lang="en-IN" sz="1400" b="1" dirty="0">
                <a:solidFill>
                  <a:schemeClr val="tx1"/>
                </a:solidFill>
                <a:latin typeface="Abadi" panose="020B0604020104020204" pitchFamily="34" charset="0"/>
              </a:rPr>
              <a:t>MySQL</a:t>
            </a:r>
            <a:r>
              <a:rPr lang="en-IN" sz="1400" dirty="0">
                <a:solidFill>
                  <a:schemeClr val="tx1"/>
                </a:solidFill>
                <a:latin typeface="Abadi" panose="020B0604020104020204" pitchFamily="34" charset="0"/>
              </a:rPr>
              <a:t> was used to calculate and validate the key performance indicators (KPIs) required for the project. SQL queries were written to calculate metrics such as Total Funded Amount, Total Loans, Total Collection, Total Interest, and other important banking KPIs. This helped ensure accurate KPI values before presenting them in the dashboards.</a:t>
            </a:r>
            <a:endParaRPr lang="en-IN" sz="1400" b="1" dirty="0">
              <a:solidFill>
                <a:schemeClr val="tx1"/>
              </a:solidFill>
              <a:latin typeface="Abadi" panose="020B0604020104020204" pitchFamily="34" charset="0"/>
            </a:endParaRPr>
          </a:p>
        </p:txBody>
      </p:sp>
      <p:sp>
        <p:nvSpPr>
          <p:cNvPr id="10" name="TextBox 9">
            <a:extLst>
              <a:ext uri="{FF2B5EF4-FFF2-40B4-BE49-F238E27FC236}">
                <a16:creationId xmlns:a16="http://schemas.microsoft.com/office/drawing/2014/main" id="{464C576D-8C22-D47C-8F44-6454FA21C293}"/>
              </a:ext>
            </a:extLst>
          </p:cNvPr>
          <p:cNvSpPr txBox="1"/>
          <p:nvPr/>
        </p:nvSpPr>
        <p:spPr>
          <a:xfrm>
            <a:off x="529517" y="356461"/>
            <a:ext cx="11132966" cy="523220"/>
          </a:xfrm>
          <a:prstGeom prst="rect">
            <a:avLst/>
          </a:prstGeom>
          <a:noFill/>
        </p:spPr>
        <p:txBody>
          <a:bodyPr wrap="square">
            <a:spAutoFit/>
          </a:bodyPr>
          <a:lstStyle/>
          <a:p>
            <a:pPr algn="ctr"/>
            <a:r>
              <a:rPr lang="en-IN" sz="2800" b="1" dirty="0">
                <a:latin typeface="Abadi" panose="020B0604020104020204" pitchFamily="34" charset="0"/>
              </a:rPr>
              <a:t>SQL KPI QUERIES</a:t>
            </a:r>
          </a:p>
        </p:txBody>
      </p:sp>
    </p:spTree>
    <p:extLst>
      <p:ext uri="{BB962C8B-B14F-4D97-AF65-F5344CB8AC3E}">
        <p14:creationId xmlns:p14="http://schemas.microsoft.com/office/powerpoint/2010/main" val="37683819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FE17F9-0EC3-150F-E7C5-4E3A7A63A7B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1B13166-02A2-81FB-B056-398F35CA96DD}"/>
              </a:ext>
            </a:extLst>
          </p:cNvPr>
          <p:cNvSpPr/>
          <p:nvPr/>
        </p:nvSpPr>
        <p:spPr>
          <a:xfrm>
            <a:off x="978458" y="648849"/>
            <a:ext cx="9996237" cy="532408"/>
          </a:xfrm>
          <a:prstGeom prst="rect">
            <a:avLst/>
          </a:prstGeom>
          <a:noFill/>
          <a:ln/>
        </p:spPr>
        <p:txBody>
          <a:bodyPr wrap="none" lIns="0" tIns="0" rIns="0" bIns="0" rtlCol="0" anchor="t"/>
          <a:lstStyle/>
          <a:p>
            <a:pPr algn="ctr">
              <a:lnSpc>
                <a:spcPct val="104000"/>
              </a:lnSpc>
            </a:pPr>
            <a:r>
              <a:rPr lang="en-IN" sz="2800" b="1" dirty="0">
                <a:latin typeface="Abadi" panose="020B0604020104020204" pitchFamily="34" charset="0"/>
              </a:rPr>
              <a:t>KEY INSIGHTS</a:t>
            </a:r>
            <a:endParaRPr lang="en-US" sz="2800" b="1" dirty="0">
              <a:latin typeface="Abadi" panose="020B0604020104020204" pitchFamily="34" charset="0"/>
            </a:endParaRPr>
          </a:p>
        </p:txBody>
      </p:sp>
      <p:sp>
        <p:nvSpPr>
          <p:cNvPr id="4" name="Text 1">
            <a:extLst>
              <a:ext uri="{FF2B5EF4-FFF2-40B4-BE49-F238E27FC236}">
                <a16:creationId xmlns:a16="http://schemas.microsoft.com/office/drawing/2014/main" id="{2CDEAAF7-9FF0-C350-A800-0A8447043AB9}"/>
              </a:ext>
            </a:extLst>
          </p:cNvPr>
          <p:cNvSpPr/>
          <p:nvPr/>
        </p:nvSpPr>
        <p:spPr>
          <a:xfrm>
            <a:off x="529517" y="6187579"/>
            <a:ext cx="2245066" cy="176808"/>
          </a:xfrm>
          <a:prstGeom prst="rect">
            <a:avLst/>
          </a:prstGeom>
          <a:noFill/>
          <a:ln/>
        </p:spPr>
        <p:txBody>
          <a:bodyPr wrap="none" lIns="0" tIns="120795" rIns="76602" bIns="0" rtlCol="0" anchor="t"/>
          <a:lstStyle/>
          <a:p>
            <a:pPr marL="0" indent="0" algn="l">
              <a:lnSpc>
                <a:spcPct val="100000"/>
              </a:lnSpc>
              <a:buNone/>
            </a:pPr>
            <a:endParaRPr lang="en-US" sz="1150" dirty="0"/>
          </a:p>
        </p:txBody>
      </p:sp>
      <p:sp>
        <p:nvSpPr>
          <p:cNvPr id="5" name="Rectangle: Rounded Corners 4">
            <a:extLst>
              <a:ext uri="{FF2B5EF4-FFF2-40B4-BE49-F238E27FC236}">
                <a16:creationId xmlns:a16="http://schemas.microsoft.com/office/drawing/2014/main" id="{3D739702-4020-CA1A-1866-C02A055A30B6}"/>
              </a:ext>
            </a:extLst>
          </p:cNvPr>
          <p:cNvSpPr/>
          <p:nvPr/>
        </p:nvSpPr>
        <p:spPr>
          <a:xfrm>
            <a:off x="1087541" y="1552850"/>
            <a:ext cx="4271968" cy="3752300"/>
          </a:xfrm>
          <a:prstGeom prst="roundRect">
            <a:avLst/>
          </a:prstGeom>
          <a:solidFill>
            <a:srgbClr val="DEEEFF"/>
          </a:solidFill>
          <a:ln>
            <a:noFill/>
          </a:ln>
          <a:effectLst>
            <a:outerShdw blurRad="63500" sx="102000" sy="102000" algn="ctr" rotWithShape="0">
              <a:srgbClr val="00206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numCol="1" rtlCol="0" anchor="ctr"/>
          <a:lstStyle/>
          <a:p>
            <a:pPr algn="just"/>
            <a:endParaRPr lang="en-IN" sz="1600" b="1" dirty="0">
              <a:solidFill>
                <a:schemeClr val="tx1"/>
              </a:solidFill>
              <a:latin typeface="Abadi" panose="020B0604020104020204" pitchFamily="34" charset="0"/>
            </a:endParaRPr>
          </a:p>
          <a:p>
            <a:pPr algn="just"/>
            <a:endParaRPr lang="en-IN" sz="1600" b="1" dirty="0">
              <a:solidFill>
                <a:schemeClr val="tx1"/>
              </a:solidFill>
              <a:latin typeface="Abadi" panose="020B0604020104020204" pitchFamily="34" charset="0"/>
            </a:endParaRPr>
          </a:p>
          <a:p>
            <a:pPr algn="just"/>
            <a:endParaRPr lang="en-IN" sz="1600" b="1" dirty="0">
              <a:solidFill>
                <a:schemeClr val="tx1"/>
              </a:solidFill>
              <a:latin typeface="Abadi" panose="020B0604020104020204" pitchFamily="34" charset="0"/>
            </a:endParaRPr>
          </a:p>
          <a:p>
            <a:pPr algn="just"/>
            <a:r>
              <a:rPr lang="en-IN" sz="1600" b="1" dirty="0">
                <a:solidFill>
                  <a:schemeClr val="tx1"/>
                </a:solidFill>
                <a:latin typeface="Abadi" panose="020B0604020104020204" pitchFamily="34" charset="0"/>
              </a:rPr>
              <a:t>Loan Analytics</a:t>
            </a:r>
          </a:p>
          <a:p>
            <a:pPr algn="just"/>
            <a:endParaRPr lang="en-IN" sz="1600" dirty="0">
              <a:solidFill>
                <a:schemeClr val="tx1"/>
              </a:solidFill>
              <a:latin typeface="Abadi" panose="020B0604020104020204" pitchFamily="34" charset="0"/>
            </a:endParaRPr>
          </a:p>
          <a:p>
            <a:pPr marL="285750" lvl="0" indent="-285750">
              <a:lnSpc>
                <a:spcPct val="150000"/>
              </a:lnSpc>
              <a:buFont typeface="Arial" panose="020B0604020202020204" pitchFamily="34" charset="0"/>
              <a:buChar char="•"/>
            </a:pPr>
            <a:r>
              <a:rPr lang="en-IN" sz="1600" dirty="0">
                <a:solidFill>
                  <a:schemeClr val="tx1"/>
                </a:solidFill>
                <a:latin typeface="Abadi" panose="020B0604020104020204" pitchFamily="34" charset="0"/>
              </a:rPr>
              <a:t>Loan performance varies across branches and states. </a:t>
            </a:r>
          </a:p>
          <a:p>
            <a:pPr marL="285750" lvl="0" indent="-285750">
              <a:lnSpc>
                <a:spcPct val="150000"/>
              </a:lnSpc>
              <a:buFont typeface="Arial" panose="020B0604020202020204" pitchFamily="34" charset="0"/>
              <a:buChar char="•"/>
            </a:pPr>
            <a:r>
              <a:rPr lang="en-IN" sz="1600" dirty="0">
                <a:solidFill>
                  <a:schemeClr val="tx1"/>
                </a:solidFill>
                <a:latin typeface="Abadi" panose="020B0604020104020204" pitchFamily="34" charset="0"/>
              </a:rPr>
              <a:t>Collection and interest KPIs help evaluate overall lending performance. </a:t>
            </a:r>
          </a:p>
          <a:p>
            <a:pPr marL="285750" lvl="0" indent="-285750">
              <a:lnSpc>
                <a:spcPct val="150000"/>
              </a:lnSpc>
              <a:buFont typeface="Arial" panose="020B0604020202020204" pitchFamily="34" charset="0"/>
              <a:buChar char="•"/>
            </a:pPr>
            <a:r>
              <a:rPr lang="en-IN" sz="1600" dirty="0">
                <a:solidFill>
                  <a:schemeClr val="tx1"/>
                </a:solidFill>
                <a:latin typeface="Abadi" panose="020B0604020104020204" pitchFamily="34" charset="0"/>
              </a:rPr>
              <a:t>Delinquency analysis helps identify potential repayment risk.</a:t>
            </a:r>
          </a:p>
          <a:p>
            <a:pPr marL="285750" lvl="0" indent="-285750" algn="just">
              <a:lnSpc>
                <a:spcPct val="150000"/>
              </a:lnSpc>
              <a:buFont typeface="Arial" panose="020B0604020202020204" pitchFamily="34" charset="0"/>
              <a:buChar char="•"/>
            </a:pPr>
            <a:endParaRPr lang="en-IN" sz="1600" dirty="0">
              <a:solidFill>
                <a:schemeClr val="tx1"/>
              </a:solidFill>
              <a:latin typeface="Abadi" panose="020B0604020104020204" pitchFamily="34" charset="0"/>
            </a:endParaRPr>
          </a:p>
          <a:p>
            <a:pPr lvl="0" algn="just"/>
            <a:endParaRPr lang="en-IN" sz="1600" dirty="0">
              <a:solidFill>
                <a:schemeClr val="tx1"/>
              </a:solidFill>
              <a:latin typeface="Abadi" panose="020B0604020104020204" pitchFamily="34" charset="0"/>
            </a:endParaRPr>
          </a:p>
          <a:p>
            <a:pPr lvl="0" algn="just"/>
            <a:endParaRPr lang="en-IN" sz="1600" dirty="0">
              <a:solidFill>
                <a:schemeClr val="tx1"/>
              </a:solidFill>
              <a:latin typeface="Abadi" panose="020B0604020104020204" pitchFamily="34" charset="0"/>
            </a:endParaRPr>
          </a:p>
          <a:p>
            <a:pPr lvl="0" algn="just"/>
            <a:endParaRPr lang="en-IN" sz="1600" dirty="0">
              <a:solidFill>
                <a:schemeClr val="tx1"/>
              </a:solidFill>
              <a:latin typeface="Abadi" panose="020B0604020104020204" pitchFamily="34" charset="0"/>
            </a:endParaRPr>
          </a:p>
          <a:p>
            <a:pPr algn="just"/>
            <a:endParaRPr lang="en-IN" sz="1600" dirty="0">
              <a:solidFill>
                <a:schemeClr val="tx1"/>
              </a:solidFill>
              <a:latin typeface="Abadi" panose="020B0604020104020204" pitchFamily="34" charset="0"/>
            </a:endParaRPr>
          </a:p>
        </p:txBody>
      </p:sp>
      <p:sp>
        <p:nvSpPr>
          <p:cNvPr id="8" name="Rectangle: Rounded Corners 7">
            <a:extLst>
              <a:ext uri="{FF2B5EF4-FFF2-40B4-BE49-F238E27FC236}">
                <a16:creationId xmlns:a16="http://schemas.microsoft.com/office/drawing/2014/main" id="{1E46C968-714D-0BDA-514D-11EC72C33B67}"/>
              </a:ext>
            </a:extLst>
          </p:cNvPr>
          <p:cNvSpPr/>
          <p:nvPr/>
        </p:nvSpPr>
        <p:spPr>
          <a:xfrm>
            <a:off x="6330507" y="1497868"/>
            <a:ext cx="4271968" cy="3862264"/>
          </a:xfrm>
          <a:prstGeom prst="roundRect">
            <a:avLst/>
          </a:prstGeom>
          <a:solidFill>
            <a:srgbClr val="DEEEFF"/>
          </a:solidFill>
          <a:ln>
            <a:noFill/>
          </a:ln>
          <a:effectLst>
            <a:outerShdw blurRad="63500" sx="102000" sy="102000" algn="ctr" rotWithShape="0">
              <a:srgbClr val="00206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numCol="1" rtlCol="0" anchor="ctr"/>
          <a:lstStyle/>
          <a:p>
            <a:pPr algn="just"/>
            <a:endParaRPr lang="en-IN" sz="1600" b="1" dirty="0">
              <a:solidFill>
                <a:schemeClr val="tx1"/>
              </a:solidFill>
              <a:latin typeface="Abadi" panose="020B0604020104020204" pitchFamily="34" charset="0"/>
            </a:endParaRPr>
          </a:p>
          <a:p>
            <a:pPr algn="just"/>
            <a:endParaRPr lang="en-IN" sz="1600" b="1" dirty="0">
              <a:solidFill>
                <a:schemeClr val="tx1"/>
              </a:solidFill>
              <a:latin typeface="Abadi" panose="020B0604020104020204" pitchFamily="34" charset="0"/>
            </a:endParaRPr>
          </a:p>
          <a:p>
            <a:pPr algn="just"/>
            <a:endParaRPr lang="en-IN" sz="1600" b="1" dirty="0">
              <a:solidFill>
                <a:schemeClr val="tx1"/>
              </a:solidFill>
              <a:latin typeface="Abadi" panose="020B0604020104020204" pitchFamily="34" charset="0"/>
            </a:endParaRPr>
          </a:p>
          <a:p>
            <a:pPr algn="just"/>
            <a:r>
              <a:rPr lang="en-IN" sz="1600" b="1" dirty="0">
                <a:solidFill>
                  <a:schemeClr val="tx1"/>
                </a:solidFill>
                <a:latin typeface="Abadi" panose="020B0604020104020204" pitchFamily="34" charset="0"/>
              </a:rPr>
              <a:t>Credit &amp; Debit Analytics</a:t>
            </a:r>
          </a:p>
          <a:p>
            <a:pPr algn="just"/>
            <a:endParaRPr lang="en-IN" sz="1600" dirty="0">
              <a:solidFill>
                <a:schemeClr val="tx1"/>
              </a:solidFill>
              <a:latin typeface="Abadi" panose="020B0604020104020204" pitchFamily="34" charset="0"/>
            </a:endParaRPr>
          </a:p>
          <a:p>
            <a:pPr marL="285750" lvl="0" indent="-285750">
              <a:lnSpc>
                <a:spcPct val="150000"/>
              </a:lnSpc>
              <a:buFont typeface="Arial" panose="020B0604020202020204" pitchFamily="34" charset="0"/>
              <a:buChar char="•"/>
            </a:pPr>
            <a:r>
              <a:rPr lang="en-IN" sz="1600" dirty="0">
                <a:solidFill>
                  <a:schemeClr val="tx1"/>
                </a:solidFill>
                <a:latin typeface="Abadi" panose="020B0604020104020204" pitchFamily="34" charset="0"/>
              </a:rPr>
              <a:t>Credit and debit amounts are nearly balanced. </a:t>
            </a:r>
          </a:p>
          <a:p>
            <a:pPr marL="285750" lvl="0" indent="-285750">
              <a:lnSpc>
                <a:spcPct val="150000"/>
              </a:lnSpc>
              <a:buFont typeface="Arial" panose="020B0604020202020204" pitchFamily="34" charset="0"/>
              <a:buChar char="•"/>
            </a:pPr>
            <a:r>
              <a:rPr lang="en-IN" sz="1600" dirty="0">
                <a:solidFill>
                  <a:schemeClr val="tx1"/>
                </a:solidFill>
                <a:latin typeface="Abadi" panose="020B0604020104020204" pitchFamily="34" charset="0"/>
              </a:rPr>
              <a:t>Transaction activity can be compared across methods, months and branches. </a:t>
            </a:r>
          </a:p>
          <a:p>
            <a:pPr marL="285750" lvl="0" indent="-285750">
              <a:lnSpc>
                <a:spcPct val="150000"/>
              </a:lnSpc>
              <a:buFont typeface="Arial" panose="020B0604020202020204" pitchFamily="34" charset="0"/>
              <a:buChar char="•"/>
            </a:pPr>
            <a:r>
              <a:rPr lang="en-IN" sz="1600" dirty="0">
                <a:solidFill>
                  <a:schemeClr val="tx1"/>
                </a:solidFill>
                <a:latin typeface="Abadi" panose="020B0604020104020204" pitchFamily="34" charset="0"/>
              </a:rPr>
              <a:t>Interactive filters allow more detailed transaction analysis.</a:t>
            </a:r>
          </a:p>
          <a:p>
            <a:pPr marL="285750" lvl="0" indent="-285750" algn="just">
              <a:lnSpc>
                <a:spcPct val="150000"/>
              </a:lnSpc>
              <a:buFont typeface="Arial" panose="020B0604020202020204" pitchFamily="34" charset="0"/>
              <a:buChar char="•"/>
            </a:pPr>
            <a:endParaRPr lang="en-IN" sz="1600" dirty="0">
              <a:solidFill>
                <a:schemeClr val="tx1"/>
              </a:solidFill>
              <a:latin typeface="Abadi" panose="020B0604020104020204" pitchFamily="34" charset="0"/>
            </a:endParaRPr>
          </a:p>
          <a:p>
            <a:pPr lvl="0" algn="just"/>
            <a:endParaRPr lang="en-IN" sz="1600" dirty="0">
              <a:solidFill>
                <a:schemeClr val="tx1"/>
              </a:solidFill>
              <a:latin typeface="Abadi" panose="020B0604020104020204" pitchFamily="34" charset="0"/>
            </a:endParaRPr>
          </a:p>
          <a:p>
            <a:pPr lvl="0" algn="just"/>
            <a:endParaRPr lang="en-IN" sz="1600" dirty="0">
              <a:solidFill>
                <a:schemeClr val="tx1"/>
              </a:solidFill>
              <a:latin typeface="Abadi" panose="020B0604020104020204" pitchFamily="34" charset="0"/>
            </a:endParaRPr>
          </a:p>
          <a:p>
            <a:pPr lvl="0" algn="just"/>
            <a:endParaRPr lang="en-IN" sz="1600" dirty="0">
              <a:solidFill>
                <a:schemeClr val="tx1"/>
              </a:solidFill>
              <a:latin typeface="Abadi" panose="020B0604020104020204" pitchFamily="34" charset="0"/>
            </a:endParaRPr>
          </a:p>
          <a:p>
            <a:pPr algn="just"/>
            <a:endParaRPr lang="en-IN" sz="1600" dirty="0">
              <a:solidFill>
                <a:schemeClr val="tx1"/>
              </a:solidFill>
              <a:latin typeface="Abadi" panose="020B0604020104020204" pitchFamily="34" charset="0"/>
            </a:endParaRPr>
          </a:p>
        </p:txBody>
      </p:sp>
    </p:spTree>
    <p:extLst>
      <p:ext uri="{BB962C8B-B14F-4D97-AF65-F5344CB8AC3E}">
        <p14:creationId xmlns:p14="http://schemas.microsoft.com/office/powerpoint/2010/main" val="11479447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FA684D-5F10-99C5-76AF-743CE45AC82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FB99D0F-F44E-7F5E-45E3-1395162F0B89}"/>
              </a:ext>
            </a:extLst>
          </p:cNvPr>
          <p:cNvSpPr/>
          <p:nvPr/>
        </p:nvSpPr>
        <p:spPr>
          <a:xfrm>
            <a:off x="978458" y="648849"/>
            <a:ext cx="9996237" cy="532408"/>
          </a:xfrm>
          <a:prstGeom prst="rect">
            <a:avLst/>
          </a:prstGeom>
          <a:noFill/>
          <a:ln/>
        </p:spPr>
        <p:txBody>
          <a:bodyPr wrap="none" lIns="0" tIns="0" rIns="0" bIns="0" rtlCol="0" anchor="t"/>
          <a:lstStyle/>
          <a:p>
            <a:pPr algn="ctr">
              <a:lnSpc>
                <a:spcPct val="104000"/>
              </a:lnSpc>
            </a:pPr>
            <a:r>
              <a:rPr lang="en-IN" sz="2800" b="1" dirty="0">
                <a:latin typeface="Abadi" panose="020B0604020104020204" pitchFamily="34" charset="0"/>
              </a:rPr>
              <a:t>CONCLUSION</a:t>
            </a:r>
            <a:endParaRPr lang="en-US" sz="2800" b="1" dirty="0">
              <a:latin typeface="Abadi" panose="020B0604020104020204" pitchFamily="34" charset="0"/>
            </a:endParaRPr>
          </a:p>
        </p:txBody>
      </p:sp>
      <p:sp>
        <p:nvSpPr>
          <p:cNvPr id="4" name="Text 1">
            <a:extLst>
              <a:ext uri="{FF2B5EF4-FFF2-40B4-BE49-F238E27FC236}">
                <a16:creationId xmlns:a16="http://schemas.microsoft.com/office/drawing/2014/main" id="{5C593EEC-5ED9-721C-590A-A151781AF6E7}"/>
              </a:ext>
            </a:extLst>
          </p:cNvPr>
          <p:cNvSpPr/>
          <p:nvPr/>
        </p:nvSpPr>
        <p:spPr>
          <a:xfrm>
            <a:off x="529517" y="6187579"/>
            <a:ext cx="2245066" cy="176808"/>
          </a:xfrm>
          <a:prstGeom prst="rect">
            <a:avLst/>
          </a:prstGeom>
          <a:noFill/>
          <a:ln/>
        </p:spPr>
        <p:txBody>
          <a:bodyPr wrap="none" lIns="0" tIns="120795" rIns="76602" bIns="0" rtlCol="0" anchor="t"/>
          <a:lstStyle/>
          <a:p>
            <a:pPr marL="0" indent="0" algn="l">
              <a:lnSpc>
                <a:spcPct val="100000"/>
              </a:lnSpc>
              <a:buNone/>
            </a:pPr>
            <a:endParaRPr lang="en-US" sz="1150" dirty="0"/>
          </a:p>
        </p:txBody>
      </p:sp>
      <p:sp>
        <p:nvSpPr>
          <p:cNvPr id="5" name="Rectangle: Rounded Corners 4">
            <a:extLst>
              <a:ext uri="{FF2B5EF4-FFF2-40B4-BE49-F238E27FC236}">
                <a16:creationId xmlns:a16="http://schemas.microsoft.com/office/drawing/2014/main" id="{D5224FDC-964F-0A0E-6869-4F04D792F67B}"/>
              </a:ext>
            </a:extLst>
          </p:cNvPr>
          <p:cNvSpPr/>
          <p:nvPr/>
        </p:nvSpPr>
        <p:spPr>
          <a:xfrm>
            <a:off x="1432896" y="1755231"/>
            <a:ext cx="9541799" cy="3903277"/>
          </a:xfrm>
          <a:prstGeom prst="roundRect">
            <a:avLst/>
          </a:prstGeom>
          <a:solidFill>
            <a:srgbClr val="DEEEFF"/>
          </a:solidFill>
          <a:ln>
            <a:noFill/>
          </a:ln>
          <a:effectLst>
            <a:outerShdw blurRad="63500" sx="102000" sy="102000" algn="ctr" rotWithShape="0">
              <a:srgbClr val="00206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lnSpc>
                <a:spcPct val="150000"/>
              </a:lnSpc>
            </a:pPr>
            <a:r>
              <a:rPr lang="en-IN" sz="1600" dirty="0">
                <a:solidFill>
                  <a:schemeClr val="tx1"/>
                </a:solidFill>
                <a:latin typeface="Abadi" panose="020B0604020104020204" pitchFamily="34" charset="0"/>
              </a:rPr>
              <a:t>The Bank Analytics project helped us understand how raw banking data can be transformed into meaningful insights using data analysis and visualization tools.</a:t>
            </a:r>
          </a:p>
          <a:p>
            <a:pPr algn="just">
              <a:lnSpc>
                <a:spcPct val="150000"/>
              </a:lnSpc>
            </a:pPr>
            <a:r>
              <a:rPr lang="en-IN" sz="1600" dirty="0">
                <a:solidFill>
                  <a:schemeClr val="tx1"/>
                </a:solidFill>
                <a:latin typeface="Abadi" panose="020B0604020104020204" pitchFamily="34" charset="0"/>
              </a:rPr>
              <a:t>Through this project, we gained practical experience in data cleaning, SQL-based KPI calculations</a:t>
            </a:r>
            <a:r>
              <a:rPr lang="en-IN" sz="1600" dirty="0"/>
              <a:t>,</a:t>
            </a:r>
            <a:r>
              <a:rPr lang="en-IN" sz="1600" dirty="0">
                <a:solidFill>
                  <a:schemeClr val="tx1"/>
                </a:solidFill>
                <a:latin typeface="Abadi" panose="020B0604020104020204" pitchFamily="34" charset="0"/>
              </a:rPr>
              <a:t>, KPI creation, Excel, Power BI, Tableau, dashboard development, and data visualization.</a:t>
            </a:r>
          </a:p>
          <a:p>
            <a:pPr algn="just">
              <a:lnSpc>
                <a:spcPct val="150000"/>
              </a:lnSpc>
            </a:pPr>
            <a:r>
              <a:rPr lang="en-IN" sz="1600" dirty="0">
                <a:solidFill>
                  <a:schemeClr val="tx1"/>
                </a:solidFill>
                <a:latin typeface="Abadi" panose="020B0604020104020204" pitchFamily="34" charset="0"/>
              </a:rPr>
              <a:t>The dashboards make it easier to understand transaction patterns, monitor important KPIs, and compare banking performance.</a:t>
            </a:r>
          </a:p>
        </p:txBody>
      </p:sp>
    </p:spTree>
    <p:extLst>
      <p:ext uri="{BB962C8B-B14F-4D97-AF65-F5344CB8AC3E}">
        <p14:creationId xmlns:p14="http://schemas.microsoft.com/office/powerpoint/2010/main" val="19984208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41FB4E-DC36-A614-7683-905F6180B45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788EC25-2604-51E6-6548-A05C344CB944}"/>
              </a:ext>
            </a:extLst>
          </p:cNvPr>
          <p:cNvSpPr/>
          <p:nvPr/>
        </p:nvSpPr>
        <p:spPr>
          <a:xfrm>
            <a:off x="978458" y="648849"/>
            <a:ext cx="9996237" cy="532408"/>
          </a:xfrm>
          <a:prstGeom prst="rect">
            <a:avLst/>
          </a:prstGeom>
          <a:noFill/>
          <a:ln/>
        </p:spPr>
        <p:txBody>
          <a:bodyPr wrap="none" lIns="0" tIns="0" rIns="0" bIns="0" rtlCol="0" anchor="t"/>
          <a:lstStyle/>
          <a:p>
            <a:pPr algn="ctr">
              <a:lnSpc>
                <a:spcPct val="104000"/>
              </a:lnSpc>
            </a:pPr>
            <a:endParaRPr lang="en-US" sz="3200" b="1" dirty="0">
              <a:latin typeface="Abadi" panose="020B0604020104020204" pitchFamily="34" charset="0"/>
            </a:endParaRPr>
          </a:p>
        </p:txBody>
      </p:sp>
      <p:sp>
        <p:nvSpPr>
          <p:cNvPr id="4" name="Text 1">
            <a:extLst>
              <a:ext uri="{FF2B5EF4-FFF2-40B4-BE49-F238E27FC236}">
                <a16:creationId xmlns:a16="http://schemas.microsoft.com/office/drawing/2014/main" id="{E0BE5819-8A17-98F1-7178-7B521B10C90E}"/>
              </a:ext>
            </a:extLst>
          </p:cNvPr>
          <p:cNvSpPr/>
          <p:nvPr/>
        </p:nvSpPr>
        <p:spPr>
          <a:xfrm>
            <a:off x="529517" y="6187579"/>
            <a:ext cx="2245066" cy="176808"/>
          </a:xfrm>
          <a:prstGeom prst="rect">
            <a:avLst/>
          </a:prstGeom>
          <a:noFill/>
          <a:ln/>
        </p:spPr>
        <p:txBody>
          <a:bodyPr wrap="none" lIns="0" tIns="120795" rIns="76602" bIns="0" rtlCol="0" anchor="t"/>
          <a:lstStyle/>
          <a:p>
            <a:pPr marL="0" indent="0" algn="l">
              <a:lnSpc>
                <a:spcPct val="100000"/>
              </a:lnSpc>
              <a:buNone/>
            </a:pPr>
            <a:endParaRPr lang="en-US" sz="1150" dirty="0"/>
          </a:p>
        </p:txBody>
      </p:sp>
      <p:sp>
        <p:nvSpPr>
          <p:cNvPr id="5" name="Rectangle: Rounded Corners 4">
            <a:extLst>
              <a:ext uri="{FF2B5EF4-FFF2-40B4-BE49-F238E27FC236}">
                <a16:creationId xmlns:a16="http://schemas.microsoft.com/office/drawing/2014/main" id="{12872C8B-BC05-7879-8ECC-086CADB40B20}"/>
              </a:ext>
            </a:extLst>
          </p:cNvPr>
          <p:cNvSpPr/>
          <p:nvPr/>
        </p:nvSpPr>
        <p:spPr>
          <a:xfrm>
            <a:off x="2683042" y="1840832"/>
            <a:ext cx="7002380" cy="3332747"/>
          </a:xfrm>
          <a:prstGeom prst="roundRect">
            <a:avLst/>
          </a:prstGeom>
          <a:solidFill>
            <a:srgbClr val="DEEEFF"/>
          </a:solidFill>
          <a:ln>
            <a:noFill/>
          </a:ln>
          <a:effectLst>
            <a:outerShdw blurRad="63500" sx="102000" sy="102000" algn="ctr" rotWithShape="0">
              <a:srgbClr val="00206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lnSpc>
                <a:spcPct val="150000"/>
              </a:lnSpc>
            </a:pPr>
            <a:r>
              <a:rPr lang="en-IN" sz="4400" b="1" dirty="0">
                <a:solidFill>
                  <a:schemeClr val="tx1"/>
                </a:solidFill>
                <a:latin typeface="Abadi" panose="020B0604020104020204" pitchFamily="34" charset="0"/>
              </a:rPr>
              <a:t>THANK YOU!</a:t>
            </a:r>
          </a:p>
        </p:txBody>
      </p:sp>
    </p:spTree>
    <p:extLst>
      <p:ext uri="{BB962C8B-B14F-4D97-AF65-F5344CB8AC3E}">
        <p14:creationId xmlns:p14="http://schemas.microsoft.com/office/powerpoint/2010/main" val="26801116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E8EEFC"/>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553</TotalTime>
  <Words>964</Words>
  <Application>Microsoft Office PowerPoint</Application>
  <PresentationFormat>Widescreen</PresentationFormat>
  <Paragraphs>103</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Abadi</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ACER</dc:creator>
  <cp:lastModifiedBy>sanjivani meshram</cp:lastModifiedBy>
  <cp:revision>11</cp:revision>
  <dcterms:created xsi:type="dcterms:W3CDTF">2026-08-01T07:54:19Z</dcterms:created>
  <dcterms:modified xsi:type="dcterms:W3CDTF">2026-08-03T03:40:45Z</dcterms:modified>
</cp:coreProperties>
</file>